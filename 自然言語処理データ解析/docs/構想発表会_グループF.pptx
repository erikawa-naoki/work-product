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1" r:id="rId4"/>
    <p:sldId id="269" r:id="rId5"/>
    <p:sldId id="262" r:id="rId6"/>
    <p:sldId id="263" r:id="rId7"/>
    <p:sldId id="265" r:id="rId8"/>
    <p:sldId id="264" r:id="rId9"/>
    <p:sldId id="266" r:id="rId10"/>
    <p:sldId id="267" r:id="rId11"/>
    <p:sldId id="268" r:id="rId12"/>
    <p:sldId id="271" r:id="rId13"/>
    <p:sldId id="270" r:id="rId14"/>
    <p:sldId id="273" r:id="rId1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1678" autoAdjust="0"/>
  </p:normalViewPr>
  <p:slideViewPr>
    <p:cSldViewPr snapToGrid="0">
      <p:cViewPr varScale="1">
        <p:scale>
          <a:sx n="89" d="100"/>
          <a:sy n="89" d="100"/>
        </p:scale>
        <p:origin x="2166" y="78"/>
      </p:cViewPr>
      <p:guideLst/>
    </p:cSldViewPr>
  </p:slideViewPr>
  <p:notesTextViewPr>
    <p:cViewPr>
      <p:scale>
        <a:sx n="1" d="1"/>
        <a:sy n="1" d="1"/>
      </p:scale>
      <p:origin x="0" y="0"/>
    </p:cViewPr>
  </p:notesTextViewPr>
  <p:notesViewPr>
    <p:cSldViewPr snapToGrid="0">
      <p:cViewPr varScale="1">
        <p:scale>
          <a:sx n="72" d="100"/>
          <a:sy n="72" d="100"/>
        </p:scale>
        <p:origin x="345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44508F-FE16-42C6-81AC-702D402FE4FA}" type="datetimeFigureOut">
              <a:rPr kumimoji="1" lang="ja-JP" altLang="en-US" smtClean="0"/>
              <a:t>2025/10/23</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F441CE-4ABE-445D-BEFE-37841C7C7BDA}" type="slidenum">
              <a:rPr kumimoji="1" lang="ja-JP" altLang="en-US" smtClean="0"/>
              <a:t>‹#›</a:t>
            </a:fld>
            <a:endParaRPr kumimoji="1" lang="ja-JP" altLang="en-US"/>
          </a:p>
        </p:txBody>
      </p:sp>
    </p:spTree>
    <p:extLst>
      <p:ext uri="{BB962C8B-B14F-4D97-AF65-F5344CB8AC3E}">
        <p14:creationId xmlns:p14="http://schemas.microsoft.com/office/powerpoint/2010/main" val="352175122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9F441CE-4ABE-445D-BEFE-37841C7C7BDA}" type="slidenum">
              <a:rPr kumimoji="1" lang="ja-JP" altLang="en-US" smtClean="0"/>
              <a:t>1</a:t>
            </a:fld>
            <a:endParaRPr kumimoji="1" lang="ja-JP" altLang="en-US"/>
          </a:p>
        </p:txBody>
      </p:sp>
    </p:spTree>
    <p:extLst>
      <p:ext uri="{BB962C8B-B14F-4D97-AF65-F5344CB8AC3E}">
        <p14:creationId xmlns:p14="http://schemas.microsoft.com/office/powerpoint/2010/main" val="3555297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9F441CE-4ABE-445D-BEFE-37841C7C7BDA}" type="slidenum">
              <a:rPr kumimoji="1" lang="ja-JP" altLang="en-US" smtClean="0"/>
              <a:t>2</a:t>
            </a:fld>
            <a:endParaRPr kumimoji="1" lang="ja-JP" altLang="en-US"/>
          </a:p>
        </p:txBody>
      </p:sp>
    </p:spTree>
    <p:extLst>
      <p:ext uri="{BB962C8B-B14F-4D97-AF65-F5344CB8AC3E}">
        <p14:creationId xmlns:p14="http://schemas.microsoft.com/office/powerpoint/2010/main" val="3757130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99F441CE-4ABE-445D-BEFE-37841C7C7BDA}" type="slidenum">
              <a:rPr kumimoji="1" lang="ja-JP" altLang="en-US" smtClean="0"/>
              <a:t>3</a:t>
            </a:fld>
            <a:endParaRPr kumimoji="1" lang="ja-JP" altLang="en-US"/>
          </a:p>
        </p:txBody>
      </p:sp>
    </p:spTree>
    <p:extLst>
      <p:ext uri="{BB962C8B-B14F-4D97-AF65-F5344CB8AC3E}">
        <p14:creationId xmlns:p14="http://schemas.microsoft.com/office/powerpoint/2010/main" val="2117696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EC8E-4F24-75F2-7BBB-6DF7319854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FDA7F7-8D92-DBC0-9854-D6623DA44F1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D99CB9-9B22-DCBD-F096-F8E76328FC08}"/>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E2EBC579-BE38-8DC1-8B69-7A38E7E4B8C5}"/>
              </a:ext>
            </a:extLst>
          </p:cNvPr>
          <p:cNvSpPr>
            <a:spLocks noGrp="1"/>
          </p:cNvSpPr>
          <p:nvPr>
            <p:ph type="sldNum" sz="quarter" idx="5"/>
          </p:nvPr>
        </p:nvSpPr>
        <p:spPr/>
        <p:txBody>
          <a:bodyPr/>
          <a:lstStyle/>
          <a:p>
            <a:fld id="{99F441CE-4ABE-445D-BEFE-37841C7C7BDA}" type="slidenum">
              <a:rPr kumimoji="1" lang="ja-JP" altLang="en-US" smtClean="0"/>
              <a:t>4</a:t>
            </a:fld>
            <a:endParaRPr kumimoji="1" lang="ja-JP" altLang="en-US"/>
          </a:p>
        </p:txBody>
      </p:sp>
    </p:spTree>
    <p:extLst>
      <p:ext uri="{BB962C8B-B14F-4D97-AF65-F5344CB8AC3E}">
        <p14:creationId xmlns:p14="http://schemas.microsoft.com/office/powerpoint/2010/main" val="33853894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1C4A0-0D56-6EFD-2412-4B6D4E36FA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81851C-62B8-EFED-D779-CA9AD96C3D7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69FD08E-1D58-CCAF-5EF6-E9D9D1CEFBE3}"/>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A50209F3-1889-7390-6023-EEF30909528E}"/>
              </a:ext>
            </a:extLst>
          </p:cNvPr>
          <p:cNvSpPr>
            <a:spLocks noGrp="1"/>
          </p:cNvSpPr>
          <p:nvPr>
            <p:ph type="sldNum" sz="quarter" idx="5"/>
          </p:nvPr>
        </p:nvSpPr>
        <p:spPr/>
        <p:txBody>
          <a:bodyPr/>
          <a:lstStyle/>
          <a:p>
            <a:fld id="{99F441CE-4ABE-445D-BEFE-37841C7C7BDA}" type="slidenum">
              <a:rPr kumimoji="1" lang="ja-JP" altLang="en-US" smtClean="0"/>
              <a:t>5</a:t>
            </a:fld>
            <a:endParaRPr kumimoji="1" lang="ja-JP" altLang="en-US"/>
          </a:p>
        </p:txBody>
      </p:sp>
    </p:spTree>
    <p:extLst>
      <p:ext uri="{BB962C8B-B14F-4D97-AF65-F5344CB8AC3E}">
        <p14:creationId xmlns:p14="http://schemas.microsoft.com/office/powerpoint/2010/main" val="683900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2A109-8FBB-D63C-D5F0-45CD777E4FE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586757-18ED-2F3F-7BA0-FE6E8AE14A7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B8FA70-8511-6397-95F6-EB5E4EFE582E}"/>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83F11DD4-308D-30BE-B9DA-5C658B3CC315}"/>
              </a:ext>
            </a:extLst>
          </p:cNvPr>
          <p:cNvSpPr>
            <a:spLocks noGrp="1"/>
          </p:cNvSpPr>
          <p:nvPr>
            <p:ph type="sldNum" sz="quarter" idx="5"/>
          </p:nvPr>
        </p:nvSpPr>
        <p:spPr/>
        <p:txBody>
          <a:bodyPr/>
          <a:lstStyle/>
          <a:p>
            <a:fld id="{99F441CE-4ABE-445D-BEFE-37841C7C7BDA}" type="slidenum">
              <a:rPr kumimoji="1" lang="ja-JP" altLang="en-US" smtClean="0"/>
              <a:t>6</a:t>
            </a:fld>
            <a:endParaRPr kumimoji="1" lang="ja-JP" altLang="en-US"/>
          </a:p>
        </p:txBody>
      </p:sp>
    </p:spTree>
    <p:extLst>
      <p:ext uri="{BB962C8B-B14F-4D97-AF65-F5344CB8AC3E}">
        <p14:creationId xmlns:p14="http://schemas.microsoft.com/office/powerpoint/2010/main" val="2735321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6085F-CE53-8B70-0B05-97BC94054E2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565635F-C9FD-F3EC-F749-F1CC2EC11E9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51A0EC-0A3B-5C9D-61B9-493BA05BD5EE}"/>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3A9D387D-77FA-1DDC-C36E-BEA87E9A6486}"/>
              </a:ext>
            </a:extLst>
          </p:cNvPr>
          <p:cNvSpPr>
            <a:spLocks noGrp="1"/>
          </p:cNvSpPr>
          <p:nvPr>
            <p:ph type="sldNum" sz="quarter" idx="5"/>
          </p:nvPr>
        </p:nvSpPr>
        <p:spPr/>
        <p:txBody>
          <a:bodyPr/>
          <a:lstStyle/>
          <a:p>
            <a:fld id="{99F441CE-4ABE-445D-BEFE-37841C7C7BDA}" type="slidenum">
              <a:rPr kumimoji="1" lang="ja-JP" altLang="en-US" smtClean="0"/>
              <a:t>7</a:t>
            </a:fld>
            <a:endParaRPr kumimoji="1" lang="ja-JP" altLang="en-US"/>
          </a:p>
        </p:txBody>
      </p:sp>
    </p:spTree>
    <p:extLst>
      <p:ext uri="{BB962C8B-B14F-4D97-AF65-F5344CB8AC3E}">
        <p14:creationId xmlns:p14="http://schemas.microsoft.com/office/powerpoint/2010/main" val="710125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1E488-FF83-ECD5-AC03-1AAA29D0C28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EF02BC-05A6-956A-74B1-877562B3F3E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B5C570E-D960-5B16-CC27-CCE4070C1865}"/>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1FBFB6CC-0F86-B2FF-08AA-A22F59684FEB}"/>
              </a:ext>
            </a:extLst>
          </p:cNvPr>
          <p:cNvSpPr>
            <a:spLocks noGrp="1"/>
          </p:cNvSpPr>
          <p:nvPr>
            <p:ph type="sldNum" sz="quarter" idx="5"/>
          </p:nvPr>
        </p:nvSpPr>
        <p:spPr/>
        <p:txBody>
          <a:bodyPr/>
          <a:lstStyle/>
          <a:p>
            <a:fld id="{99F441CE-4ABE-445D-BEFE-37841C7C7BDA}" type="slidenum">
              <a:rPr kumimoji="1" lang="ja-JP" altLang="en-US" smtClean="0"/>
              <a:t>8</a:t>
            </a:fld>
            <a:endParaRPr kumimoji="1" lang="ja-JP" altLang="en-US"/>
          </a:p>
        </p:txBody>
      </p:sp>
    </p:spTree>
    <p:extLst>
      <p:ext uri="{BB962C8B-B14F-4D97-AF65-F5344CB8AC3E}">
        <p14:creationId xmlns:p14="http://schemas.microsoft.com/office/powerpoint/2010/main" val="1891803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07715-24FD-DFB9-FE49-A9F51F164C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826B173-44B6-EBAC-3052-733BB6D945E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9CBB671-85D4-514F-9023-B2E170D93573}"/>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B038528A-355C-DDE5-7D81-FB9101B0A8D8}"/>
              </a:ext>
            </a:extLst>
          </p:cNvPr>
          <p:cNvSpPr>
            <a:spLocks noGrp="1"/>
          </p:cNvSpPr>
          <p:nvPr>
            <p:ph type="sldNum" sz="quarter" idx="5"/>
          </p:nvPr>
        </p:nvSpPr>
        <p:spPr/>
        <p:txBody>
          <a:bodyPr/>
          <a:lstStyle/>
          <a:p>
            <a:fld id="{99F441CE-4ABE-445D-BEFE-37841C7C7BDA}" type="slidenum">
              <a:rPr kumimoji="1" lang="ja-JP" altLang="en-US" smtClean="0"/>
              <a:t>9</a:t>
            </a:fld>
            <a:endParaRPr kumimoji="1" lang="ja-JP" altLang="en-US"/>
          </a:p>
        </p:txBody>
      </p:sp>
    </p:spTree>
    <p:extLst>
      <p:ext uri="{BB962C8B-B14F-4D97-AF65-F5344CB8AC3E}">
        <p14:creationId xmlns:p14="http://schemas.microsoft.com/office/powerpoint/2010/main" val="1563756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4D151-378E-0F6C-E031-0DC4ACEED5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AB910A-BDF1-7985-8751-88956B0A965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2E16EE-3BA7-27FC-5F5E-CBF66812E613}"/>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F3AAE0C7-0F2D-8D9C-CDDA-66224831DE12}"/>
              </a:ext>
            </a:extLst>
          </p:cNvPr>
          <p:cNvSpPr>
            <a:spLocks noGrp="1"/>
          </p:cNvSpPr>
          <p:nvPr>
            <p:ph type="sldNum" sz="quarter" idx="5"/>
          </p:nvPr>
        </p:nvSpPr>
        <p:spPr/>
        <p:txBody>
          <a:bodyPr/>
          <a:lstStyle/>
          <a:p>
            <a:fld id="{99F441CE-4ABE-445D-BEFE-37841C7C7BDA}" type="slidenum">
              <a:rPr kumimoji="1" lang="ja-JP" altLang="en-US" smtClean="0"/>
              <a:t>10</a:t>
            </a:fld>
            <a:endParaRPr kumimoji="1" lang="ja-JP" altLang="en-US"/>
          </a:p>
        </p:txBody>
      </p:sp>
    </p:spTree>
    <p:extLst>
      <p:ext uri="{BB962C8B-B14F-4D97-AF65-F5344CB8AC3E}">
        <p14:creationId xmlns:p14="http://schemas.microsoft.com/office/powerpoint/2010/main" val="1422432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A2DD7-E050-5E5D-5D66-6F4F98D19F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B37BA73-9E0E-0C59-496E-AE484E5D495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4D47816-FC96-DF64-0FB4-6C12C054FAFF}"/>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1407029E-CB32-8331-3B61-E1A77E348382}"/>
              </a:ext>
            </a:extLst>
          </p:cNvPr>
          <p:cNvSpPr>
            <a:spLocks noGrp="1"/>
          </p:cNvSpPr>
          <p:nvPr>
            <p:ph type="sldNum" sz="quarter" idx="5"/>
          </p:nvPr>
        </p:nvSpPr>
        <p:spPr/>
        <p:txBody>
          <a:bodyPr/>
          <a:lstStyle/>
          <a:p>
            <a:fld id="{99F441CE-4ABE-445D-BEFE-37841C7C7BDA}" type="slidenum">
              <a:rPr kumimoji="1" lang="ja-JP" altLang="en-US" smtClean="0"/>
              <a:t>11</a:t>
            </a:fld>
            <a:endParaRPr kumimoji="1" lang="ja-JP" altLang="en-US"/>
          </a:p>
        </p:txBody>
      </p:sp>
    </p:spTree>
    <p:extLst>
      <p:ext uri="{BB962C8B-B14F-4D97-AF65-F5344CB8AC3E}">
        <p14:creationId xmlns:p14="http://schemas.microsoft.com/office/powerpoint/2010/main" val="1013732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406A6-5853-039D-F58C-B46440964C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3C4A8C-3466-0E50-28D9-4579274C52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84D8A7-BAD4-DE14-69BF-4A3F3E529EA8}"/>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D4ADC898-C5C1-14B0-E46B-657299485783}"/>
              </a:ext>
            </a:extLst>
          </p:cNvPr>
          <p:cNvSpPr>
            <a:spLocks noGrp="1"/>
          </p:cNvSpPr>
          <p:nvPr>
            <p:ph type="sldNum" sz="quarter" idx="5"/>
          </p:nvPr>
        </p:nvSpPr>
        <p:spPr/>
        <p:txBody>
          <a:bodyPr/>
          <a:lstStyle/>
          <a:p>
            <a:fld id="{99F441CE-4ABE-445D-BEFE-37841C7C7BDA}" type="slidenum">
              <a:rPr kumimoji="1" lang="ja-JP" altLang="en-US" smtClean="0"/>
              <a:t>12</a:t>
            </a:fld>
            <a:endParaRPr kumimoji="1" lang="ja-JP" altLang="en-US"/>
          </a:p>
        </p:txBody>
      </p:sp>
    </p:spTree>
    <p:extLst>
      <p:ext uri="{BB962C8B-B14F-4D97-AF65-F5344CB8AC3E}">
        <p14:creationId xmlns:p14="http://schemas.microsoft.com/office/powerpoint/2010/main" val="3631066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1A803-F08E-394E-9540-15311628908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3A1171D-6882-2EB3-0AB6-0D7F6AAF043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2AE8BB-4E68-146C-36E4-A1824FA45DD4}"/>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9ED81AEE-DCCE-A1A3-F0B6-4C767848CDCE}"/>
              </a:ext>
            </a:extLst>
          </p:cNvPr>
          <p:cNvSpPr>
            <a:spLocks noGrp="1"/>
          </p:cNvSpPr>
          <p:nvPr>
            <p:ph type="sldNum" sz="quarter" idx="5"/>
          </p:nvPr>
        </p:nvSpPr>
        <p:spPr/>
        <p:txBody>
          <a:bodyPr/>
          <a:lstStyle/>
          <a:p>
            <a:fld id="{99F441CE-4ABE-445D-BEFE-37841C7C7BDA}" type="slidenum">
              <a:rPr kumimoji="1" lang="ja-JP" altLang="en-US" smtClean="0"/>
              <a:t>13</a:t>
            </a:fld>
            <a:endParaRPr kumimoji="1" lang="ja-JP" altLang="en-US"/>
          </a:p>
        </p:txBody>
      </p:sp>
    </p:spTree>
    <p:extLst>
      <p:ext uri="{BB962C8B-B14F-4D97-AF65-F5344CB8AC3E}">
        <p14:creationId xmlns:p14="http://schemas.microsoft.com/office/powerpoint/2010/main" val="20297463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C7161-A2B1-DDAD-AAC8-69AF459D4E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03E998-97C0-E4A6-90FE-6174663B1A0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CD9E5E-B747-3604-2428-F29F4D62C852}"/>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6DD7DDEB-CB28-A974-9004-D6D2E3E97DD9}"/>
              </a:ext>
            </a:extLst>
          </p:cNvPr>
          <p:cNvSpPr>
            <a:spLocks noGrp="1"/>
          </p:cNvSpPr>
          <p:nvPr>
            <p:ph type="sldNum" sz="quarter" idx="5"/>
          </p:nvPr>
        </p:nvSpPr>
        <p:spPr/>
        <p:txBody>
          <a:bodyPr/>
          <a:lstStyle/>
          <a:p>
            <a:fld id="{99F441CE-4ABE-445D-BEFE-37841C7C7BDA}" type="slidenum">
              <a:rPr kumimoji="1" lang="ja-JP" altLang="en-US" smtClean="0"/>
              <a:t>14</a:t>
            </a:fld>
            <a:endParaRPr kumimoji="1" lang="ja-JP" altLang="en-US"/>
          </a:p>
        </p:txBody>
      </p:sp>
    </p:spTree>
    <p:extLst>
      <p:ext uri="{BB962C8B-B14F-4D97-AF65-F5344CB8AC3E}">
        <p14:creationId xmlns:p14="http://schemas.microsoft.com/office/powerpoint/2010/main" val="328134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5" name="テキスト ボックス 24">
            <a:extLst>
              <a:ext uri="{FF2B5EF4-FFF2-40B4-BE49-F238E27FC236}">
                <a16:creationId xmlns:a16="http://schemas.microsoft.com/office/drawing/2014/main" id="{BC97A38A-464D-B841-CD96-5C2F4A38A2F7}"/>
              </a:ext>
            </a:extLst>
          </p:cNvPr>
          <p:cNvSpPr txBox="1"/>
          <p:nvPr userDrawn="1"/>
        </p:nvSpPr>
        <p:spPr>
          <a:xfrm>
            <a:off x="454524" y="2951946"/>
            <a:ext cx="8234951" cy="523220"/>
          </a:xfrm>
          <a:prstGeom prst="rect">
            <a:avLst/>
          </a:prstGeom>
          <a:noFill/>
        </p:spPr>
        <p:txBody>
          <a:bodyPr wrap="square" rtlCol="0">
            <a:spAutoFit/>
          </a:bodyPr>
          <a:lstStyle/>
          <a:p>
            <a:pPr algn="ctr"/>
            <a:r>
              <a:rPr kumimoji="1" lang="ja-JP" altLang="en-US" sz="2800" kern="1200" dirty="0">
                <a:solidFill>
                  <a:schemeClr val="tx1"/>
                </a:solidFill>
                <a:effectLst/>
                <a:latin typeface="+mn-lt"/>
                <a:ea typeface="+mn-ea"/>
                <a:cs typeface="+mn-cs"/>
              </a:rPr>
              <a:t>文書分類手法の比較検証</a:t>
            </a:r>
            <a:endParaRPr kumimoji="1" lang="ja-JP" altLang="en-US" sz="4000" dirty="0">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76036FF2-F0B7-CF38-738E-F904BDB193D6}"/>
              </a:ext>
            </a:extLst>
          </p:cNvPr>
          <p:cNvSpPr txBox="1"/>
          <p:nvPr userDrawn="1"/>
        </p:nvSpPr>
        <p:spPr>
          <a:xfrm>
            <a:off x="5140431" y="4054533"/>
            <a:ext cx="3566479" cy="1938992"/>
          </a:xfrm>
          <a:prstGeom prst="rect">
            <a:avLst/>
          </a:prstGeom>
          <a:noFill/>
        </p:spPr>
        <p:txBody>
          <a:bodyPr wrap="square" rtlCol="0">
            <a:spAutoFit/>
          </a:bodyPr>
          <a:lstStyle/>
          <a:p>
            <a:pPr algn="r"/>
            <a:r>
              <a:rPr lang="ja-JP" altLang="en-US" sz="2000" dirty="0">
                <a:latin typeface="メイリオ" panose="020B0604030504040204" pitchFamily="50" charset="-128"/>
                <a:ea typeface="メイリオ" panose="020B0604030504040204" pitchFamily="50" charset="-128"/>
              </a:rPr>
              <a:t>グループ</a:t>
            </a:r>
            <a:r>
              <a:rPr lang="en-US" altLang="ja-JP" sz="2000" dirty="0">
                <a:latin typeface="メイリオ" panose="020B0604030504040204" pitchFamily="50" charset="-128"/>
                <a:ea typeface="メイリオ" panose="020B0604030504040204" pitchFamily="50" charset="-128"/>
              </a:rPr>
              <a:t>F</a:t>
            </a:r>
          </a:p>
          <a:p>
            <a:pPr algn="r"/>
            <a:r>
              <a:rPr kumimoji="1" lang="ja-JP" altLang="en-US" sz="2000" dirty="0">
                <a:latin typeface="メイリオ" panose="020B0604030504040204" pitchFamily="50" charset="-128"/>
                <a:ea typeface="メイリオ" panose="020B0604030504040204" pitchFamily="50" charset="-128"/>
              </a:rPr>
              <a:t>小島</a:t>
            </a:r>
            <a:endParaRPr kumimoji="1" lang="en-US" altLang="ja-JP" sz="2000" dirty="0">
              <a:latin typeface="メイリオ" panose="020B0604030504040204" pitchFamily="50" charset="-128"/>
              <a:ea typeface="メイリオ" panose="020B0604030504040204" pitchFamily="50" charset="-128"/>
            </a:endParaRPr>
          </a:p>
          <a:p>
            <a:pPr algn="r"/>
            <a:r>
              <a:rPr kumimoji="1" lang="ja-JP" altLang="en-US" sz="2000" dirty="0">
                <a:latin typeface="メイリオ" panose="020B0604030504040204" pitchFamily="50" charset="-128"/>
                <a:ea typeface="メイリオ" panose="020B0604030504040204" pitchFamily="50" charset="-128"/>
              </a:rPr>
              <a:t>渡邊</a:t>
            </a:r>
            <a:endParaRPr kumimoji="1" lang="en-US" altLang="ja-JP" sz="2000" dirty="0">
              <a:latin typeface="メイリオ" panose="020B0604030504040204" pitchFamily="50" charset="-128"/>
              <a:ea typeface="メイリオ" panose="020B0604030504040204" pitchFamily="50" charset="-128"/>
            </a:endParaRPr>
          </a:p>
          <a:p>
            <a:pPr algn="r"/>
            <a:r>
              <a:rPr kumimoji="1" lang="ja-JP" altLang="en-US" sz="2000" dirty="0">
                <a:latin typeface="メイリオ" panose="020B0604030504040204" pitchFamily="50" charset="-128"/>
                <a:ea typeface="メイリオ" panose="020B0604030504040204" pitchFamily="50" charset="-128"/>
              </a:rPr>
              <a:t>江利川</a:t>
            </a:r>
            <a:endParaRPr kumimoji="1" lang="en-US" altLang="ja-JP" sz="2000" dirty="0">
              <a:latin typeface="メイリオ" panose="020B0604030504040204" pitchFamily="50" charset="-128"/>
              <a:ea typeface="メイリオ" panose="020B0604030504040204" pitchFamily="50" charset="-128"/>
            </a:endParaRPr>
          </a:p>
          <a:p>
            <a:pPr algn="r"/>
            <a:r>
              <a:rPr kumimoji="1" lang="ja-JP" altLang="en-US" sz="2000" dirty="0">
                <a:latin typeface="メイリオ" panose="020B0604030504040204" pitchFamily="50" charset="-128"/>
                <a:ea typeface="メイリオ" panose="020B0604030504040204" pitchFamily="50" charset="-128"/>
              </a:rPr>
              <a:t>相内</a:t>
            </a:r>
            <a:endParaRPr kumimoji="1" lang="en-US" altLang="ja-JP" sz="2000" dirty="0">
              <a:latin typeface="メイリオ" panose="020B0604030504040204" pitchFamily="50" charset="-128"/>
              <a:ea typeface="メイリオ" panose="020B0604030504040204" pitchFamily="50" charset="-128"/>
            </a:endParaRPr>
          </a:p>
          <a:p>
            <a:pPr algn="r"/>
            <a:r>
              <a:rPr kumimoji="1" lang="ja-JP" altLang="en-US" sz="2000" dirty="0">
                <a:latin typeface="メイリオ" panose="020B0604030504040204" pitchFamily="50" charset="-128"/>
                <a:ea typeface="メイリオ" panose="020B0604030504040204" pitchFamily="50" charset="-128"/>
              </a:rPr>
              <a:t>矢倉</a:t>
            </a:r>
            <a:endParaRPr kumimoji="1" lang="ja-JP" altLang="en-US" sz="2000" dirty="0">
              <a:latin typeface="+mn-ea"/>
              <a:ea typeface="+mn-ea"/>
            </a:endParaRPr>
          </a:p>
        </p:txBody>
      </p:sp>
      <p:sp>
        <p:nvSpPr>
          <p:cNvPr id="34" name="スライド番号プレースホルダー 33">
            <a:extLst>
              <a:ext uri="{FF2B5EF4-FFF2-40B4-BE49-F238E27FC236}">
                <a16:creationId xmlns:a16="http://schemas.microsoft.com/office/drawing/2014/main" id="{A61850EA-6587-3A14-5BAB-B8D97C152EF7}"/>
              </a:ext>
            </a:extLst>
          </p:cNvPr>
          <p:cNvSpPr>
            <a:spLocks noGrp="1"/>
          </p:cNvSpPr>
          <p:nvPr>
            <p:ph type="sldNum" sz="quarter" idx="12"/>
          </p:nvPr>
        </p:nvSpPr>
        <p:spPr/>
        <p:txBody>
          <a:bodyPr/>
          <a:lstStyle/>
          <a:p>
            <a:fld id="{ED76A291-9732-4BB9-869D-FB236AA77CE3}" type="slidenum">
              <a:rPr lang="ja-JP" altLang="en-US" smtClean="0"/>
              <a:pPr/>
              <a:t>‹#›</a:t>
            </a:fld>
            <a:endParaRPr lang="ja-JP" altLang="en-US" dirty="0"/>
          </a:p>
        </p:txBody>
      </p:sp>
    </p:spTree>
    <p:extLst>
      <p:ext uri="{BB962C8B-B14F-4D97-AF65-F5344CB8AC3E}">
        <p14:creationId xmlns:p14="http://schemas.microsoft.com/office/powerpoint/2010/main" val="298196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13" name="スライド番号プレースホルダー 12">
            <a:extLst>
              <a:ext uri="{FF2B5EF4-FFF2-40B4-BE49-F238E27FC236}">
                <a16:creationId xmlns:a16="http://schemas.microsoft.com/office/drawing/2014/main" id="{011675E0-BCEE-1C5D-4DD4-36DF0BC7F91E}"/>
              </a:ext>
            </a:extLst>
          </p:cNvPr>
          <p:cNvSpPr>
            <a:spLocks noGrp="1"/>
          </p:cNvSpPr>
          <p:nvPr>
            <p:ph type="sldNum" sz="quarter" idx="12"/>
          </p:nvPr>
        </p:nvSpPr>
        <p:spPr/>
        <p:txBody>
          <a:bodyPr/>
          <a:lstStyle/>
          <a:p>
            <a:fld id="{ED76A291-9732-4BB9-869D-FB236AA77CE3}" type="slidenum">
              <a:rPr lang="ja-JP" altLang="en-US" smtClean="0"/>
              <a:pPr/>
              <a:t>‹#›</a:t>
            </a:fld>
            <a:endParaRPr lang="ja-JP" altLang="en-US" dirty="0"/>
          </a:p>
        </p:txBody>
      </p:sp>
      <p:cxnSp>
        <p:nvCxnSpPr>
          <p:cNvPr id="2" name="直線コネクタ 1">
            <a:extLst>
              <a:ext uri="{FF2B5EF4-FFF2-40B4-BE49-F238E27FC236}">
                <a16:creationId xmlns:a16="http://schemas.microsoft.com/office/drawing/2014/main" id="{886930CA-64C7-F8CD-F69E-46F09944F3E1}"/>
              </a:ext>
            </a:extLst>
          </p:cNvPr>
          <p:cNvCxnSpPr/>
          <p:nvPr userDrawn="1"/>
        </p:nvCxnSpPr>
        <p:spPr>
          <a:xfrm>
            <a:off x="235228" y="650383"/>
            <a:ext cx="866004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2407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6" name="スライド番号プレースホルダー 8">
            <a:extLst>
              <a:ext uri="{FF2B5EF4-FFF2-40B4-BE49-F238E27FC236}">
                <a16:creationId xmlns:a16="http://schemas.microsoft.com/office/drawing/2014/main" id="{AD7355A6-BE97-C79A-A6C4-45DFD87C13BD}"/>
              </a:ext>
            </a:extLst>
          </p:cNvPr>
          <p:cNvSpPr>
            <a:spLocks noGrp="1"/>
          </p:cNvSpPr>
          <p:nvPr>
            <p:ph type="sldNum" sz="quarter" idx="4"/>
          </p:nvPr>
        </p:nvSpPr>
        <p:spPr>
          <a:xfrm>
            <a:off x="6837877" y="110097"/>
            <a:ext cx="2057400" cy="365125"/>
          </a:xfrm>
          <a:prstGeom prst="rect">
            <a:avLst/>
          </a:prstGeom>
        </p:spPr>
        <p:txBody>
          <a:bodyPr/>
          <a:lstStyle>
            <a:lvl1pPr algn="r">
              <a:defRPr/>
            </a:lvl1pPr>
          </a:lstStyle>
          <a:p>
            <a:fld id="{ED76A291-9732-4BB9-869D-FB236AA77CE3}" type="slidenum">
              <a:rPr lang="ja-JP" altLang="en-US" smtClean="0"/>
              <a:pPr/>
              <a:t>‹#›</a:t>
            </a:fld>
            <a:endParaRPr lang="ja-JP" altLang="en-US" dirty="0"/>
          </a:p>
        </p:txBody>
      </p:sp>
    </p:spTree>
    <p:extLst>
      <p:ext uri="{BB962C8B-B14F-4D97-AF65-F5344CB8AC3E}">
        <p14:creationId xmlns:p14="http://schemas.microsoft.com/office/powerpoint/2010/main" val="2726234926"/>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A226D8A1-75CB-44AA-7779-BA3178A4F367}"/>
              </a:ext>
            </a:extLst>
          </p:cNvPr>
          <p:cNvSpPr>
            <a:spLocks noGrp="1"/>
          </p:cNvSpPr>
          <p:nvPr>
            <p:ph type="sldNum" sz="quarter" idx="12"/>
          </p:nvPr>
        </p:nvSpPr>
        <p:spPr/>
        <p:txBody>
          <a:bodyPr/>
          <a:lstStyle/>
          <a:p>
            <a:fld id="{ED76A291-9732-4BB9-869D-FB236AA77CE3}" type="slidenum">
              <a:rPr lang="ja-JP" altLang="en-US" smtClean="0"/>
              <a:pPr/>
              <a:t>1</a:t>
            </a:fld>
            <a:endParaRPr lang="ja-JP" altLang="en-US" dirty="0"/>
          </a:p>
        </p:txBody>
      </p:sp>
    </p:spTree>
    <p:extLst>
      <p:ext uri="{BB962C8B-B14F-4D97-AF65-F5344CB8AC3E}">
        <p14:creationId xmlns:p14="http://schemas.microsoft.com/office/powerpoint/2010/main" val="1943176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2D07204-793E-1384-50AE-CFCB1C20EBF9}"/>
              </a:ext>
            </a:extLst>
          </p:cNvPr>
          <p:cNvSpPr>
            <a:spLocks noGrp="1"/>
          </p:cNvSpPr>
          <p:nvPr>
            <p:ph type="sldNum" sz="quarter" idx="12"/>
          </p:nvPr>
        </p:nvSpPr>
        <p:spPr/>
        <p:txBody>
          <a:bodyPr/>
          <a:lstStyle/>
          <a:p>
            <a:fld id="{ED76A291-9732-4BB9-869D-FB236AA77CE3}" type="slidenum">
              <a:rPr lang="ja-JP" altLang="en-US" smtClean="0"/>
              <a:pPr/>
              <a:t>2</a:t>
            </a:fld>
            <a:endParaRPr lang="ja-JP" altLang="en-US" dirty="0"/>
          </a:p>
        </p:txBody>
      </p:sp>
      <p:sp>
        <p:nvSpPr>
          <p:cNvPr id="4" name="テキスト ボックス 3">
            <a:extLst>
              <a:ext uri="{FF2B5EF4-FFF2-40B4-BE49-F238E27FC236}">
                <a16:creationId xmlns:a16="http://schemas.microsoft.com/office/drawing/2014/main" id="{EF56AE19-449B-16AB-3DE5-3274794CED34}"/>
              </a:ext>
            </a:extLst>
          </p:cNvPr>
          <p:cNvSpPr txBox="1"/>
          <p:nvPr/>
        </p:nvSpPr>
        <p:spPr>
          <a:xfrm>
            <a:off x="180420" y="139047"/>
            <a:ext cx="4764721" cy="523220"/>
          </a:xfrm>
          <a:prstGeom prst="rect">
            <a:avLst/>
          </a:prstGeom>
          <a:noFill/>
        </p:spPr>
        <p:txBody>
          <a:bodyPr wrap="square" rtlCol="0">
            <a:spAutoFit/>
          </a:bodyPr>
          <a:lstStyle/>
          <a:p>
            <a:r>
              <a:rPr kumimoji="1" lang="ja-JP" altLang="en-US" sz="2800" dirty="0"/>
              <a:t>目次</a:t>
            </a:r>
          </a:p>
        </p:txBody>
      </p:sp>
      <p:sp>
        <p:nvSpPr>
          <p:cNvPr id="5" name="テキスト ボックス 4">
            <a:extLst>
              <a:ext uri="{FF2B5EF4-FFF2-40B4-BE49-F238E27FC236}">
                <a16:creationId xmlns:a16="http://schemas.microsoft.com/office/drawing/2014/main" id="{FEF164FD-9012-369F-9F25-A5E964872D9A}"/>
              </a:ext>
            </a:extLst>
          </p:cNvPr>
          <p:cNvSpPr txBox="1"/>
          <p:nvPr/>
        </p:nvSpPr>
        <p:spPr>
          <a:xfrm>
            <a:off x="396073" y="982176"/>
            <a:ext cx="8211662" cy="3046988"/>
          </a:xfrm>
          <a:prstGeom prst="rect">
            <a:avLst/>
          </a:prstGeom>
          <a:noFill/>
        </p:spPr>
        <p:txBody>
          <a:bodyPr wrap="square" rtlCol="0">
            <a:spAutoFit/>
          </a:bodyPr>
          <a:lstStyle/>
          <a:p>
            <a:pPr marL="457200" indent="-457200">
              <a:buFont typeface="Arial" panose="020B0604020202020204" pitchFamily="34" charset="0"/>
              <a:buChar char="•"/>
              <a:tabLst>
                <a:tab pos="7620000" algn="r"/>
              </a:tabLst>
            </a:pPr>
            <a:r>
              <a:rPr lang="ja-JP" altLang="en-US" sz="2800" dirty="0"/>
              <a:t>実験の目的 </a:t>
            </a:r>
            <a:r>
              <a:rPr lang="en-US" altLang="ja-JP" sz="2800" u="dotted" baseline="40000" dirty="0"/>
              <a:t>	</a:t>
            </a:r>
            <a:r>
              <a:rPr lang="en-US" altLang="ja-JP" sz="2800" dirty="0"/>
              <a:t> 3</a:t>
            </a:r>
          </a:p>
          <a:p>
            <a:pPr marL="457200" indent="-457200">
              <a:buFont typeface="Arial" panose="020B0604020202020204" pitchFamily="34" charset="0"/>
              <a:buChar char="•"/>
              <a:tabLst>
                <a:tab pos="7620000" algn="r"/>
              </a:tabLst>
            </a:pPr>
            <a:r>
              <a:rPr lang="ja-JP" altLang="en-US" sz="2800" dirty="0"/>
              <a:t>各手法の選定理由 </a:t>
            </a:r>
            <a:r>
              <a:rPr lang="en-US" altLang="ja-JP" sz="2800" u="dotted" baseline="40000" dirty="0"/>
              <a:t>	</a:t>
            </a:r>
            <a:r>
              <a:rPr lang="en-US" altLang="ja-JP" sz="2800" dirty="0"/>
              <a:t>   4</a:t>
            </a:r>
          </a:p>
          <a:p>
            <a:pPr marL="457200" indent="-457200">
              <a:buFont typeface="Arial" panose="020B0604020202020204" pitchFamily="34" charset="0"/>
              <a:buChar char="•"/>
              <a:tabLst>
                <a:tab pos="7620000" algn="r"/>
              </a:tabLst>
            </a:pPr>
            <a:r>
              <a:rPr lang="ja-JP" altLang="en-US" sz="2800" dirty="0"/>
              <a:t>作成するシステムの機能と使用データ </a:t>
            </a:r>
            <a:r>
              <a:rPr lang="en-US" altLang="ja-JP" sz="2800" u="dotted" baseline="40000" dirty="0"/>
              <a:t>	</a:t>
            </a:r>
            <a:r>
              <a:rPr lang="en-US" altLang="ja-JP" sz="2800" dirty="0"/>
              <a:t> 5</a:t>
            </a:r>
          </a:p>
          <a:p>
            <a:pPr marL="457200" indent="-457200">
              <a:buFont typeface="Arial" panose="020B0604020202020204" pitchFamily="34" charset="0"/>
              <a:buChar char="•"/>
              <a:tabLst>
                <a:tab pos="7620000" algn="r"/>
              </a:tabLst>
            </a:pPr>
            <a:r>
              <a:rPr lang="ja-JP" altLang="en-US" sz="2800" dirty="0"/>
              <a:t>処理内容・手順 </a:t>
            </a:r>
            <a:r>
              <a:rPr lang="en-US" altLang="ja-JP" sz="2800" u="dotted" baseline="40000" dirty="0"/>
              <a:t>	</a:t>
            </a:r>
            <a:r>
              <a:rPr lang="en-US" altLang="ja-JP" sz="2800" dirty="0"/>
              <a:t> 6</a:t>
            </a:r>
          </a:p>
          <a:p>
            <a:pPr marL="457200" indent="-457200">
              <a:buFont typeface="Arial" panose="020B0604020202020204" pitchFamily="34" charset="0"/>
              <a:buChar char="•"/>
              <a:tabLst>
                <a:tab pos="7620000" algn="r"/>
              </a:tabLst>
            </a:pPr>
            <a:r>
              <a:rPr lang="ja-JP" altLang="en-US" sz="2800" dirty="0"/>
              <a:t>評価方法 </a:t>
            </a:r>
            <a:r>
              <a:rPr lang="en-US" altLang="ja-JP" sz="2800" u="dotted" baseline="40000" dirty="0"/>
              <a:t>	</a:t>
            </a:r>
            <a:r>
              <a:rPr lang="en-US" altLang="ja-JP" sz="2800" dirty="0"/>
              <a:t> 13</a:t>
            </a:r>
          </a:p>
          <a:p>
            <a:pPr marL="457200" indent="-457200">
              <a:buFont typeface="Arial" panose="020B0604020202020204" pitchFamily="34" charset="0"/>
              <a:buChar char="•"/>
              <a:tabLst>
                <a:tab pos="7620000" algn="r"/>
              </a:tabLst>
            </a:pPr>
            <a:r>
              <a:rPr lang="ja-JP" altLang="en-US" sz="2800" dirty="0"/>
              <a:t>分担 </a:t>
            </a:r>
            <a:r>
              <a:rPr lang="en-US" altLang="ja-JP" sz="2800" u="dotted" baseline="40000" dirty="0"/>
              <a:t>	</a:t>
            </a:r>
            <a:r>
              <a:rPr lang="en-US" altLang="ja-JP" sz="2800" dirty="0"/>
              <a:t> 14</a:t>
            </a:r>
          </a:p>
          <a:p>
            <a:pPr>
              <a:tabLst>
                <a:tab pos="7620000" algn="r"/>
              </a:tabLst>
            </a:pPr>
            <a:endParaRPr lang="en-US" altLang="ja-JP" sz="2400" dirty="0"/>
          </a:p>
        </p:txBody>
      </p:sp>
    </p:spTree>
    <p:extLst>
      <p:ext uri="{BB962C8B-B14F-4D97-AF65-F5344CB8AC3E}">
        <p14:creationId xmlns:p14="http://schemas.microsoft.com/office/powerpoint/2010/main" val="1207418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247EF-2EE1-88C8-A4CB-425B3CC1CE9E}"/>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9E7402C-95D6-3EA3-9763-D65DE5AD00B7}"/>
              </a:ext>
            </a:extLst>
          </p:cNvPr>
          <p:cNvSpPr>
            <a:spLocks noGrp="1"/>
          </p:cNvSpPr>
          <p:nvPr>
            <p:ph type="sldNum" sz="quarter" idx="12"/>
          </p:nvPr>
        </p:nvSpPr>
        <p:spPr/>
        <p:txBody>
          <a:bodyPr/>
          <a:lstStyle/>
          <a:p>
            <a:fld id="{ED76A291-9732-4BB9-869D-FB236AA77CE3}" type="slidenum">
              <a:rPr lang="ja-JP" altLang="en-US" smtClean="0"/>
              <a:pPr/>
              <a:t>3</a:t>
            </a:fld>
            <a:endParaRPr lang="ja-JP" altLang="en-US" dirty="0"/>
          </a:p>
        </p:txBody>
      </p:sp>
      <p:sp>
        <p:nvSpPr>
          <p:cNvPr id="6" name="テキスト ボックス 5">
            <a:extLst>
              <a:ext uri="{FF2B5EF4-FFF2-40B4-BE49-F238E27FC236}">
                <a16:creationId xmlns:a16="http://schemas.microsoft.com/office/drawing/2014/main" id="{D1B46D02-56AB-DC95-CA40-A83C74C4E9EA}"/>
              </a:ext>
            </a:extLst>
          </p:cNvPr>
          <p:cNvSpPr txBox="1"/>
          <p:nvPr/>
        </p:nvSpPr>
        <p:spPr>
          <a:xfrm>
            <a:off x="180420" y="139047"/>
            <a:ext cx="4708103" cy="523220"/>
          </a:xfrm>
          <a:prstGeom prst="rect">
            <a:avLst/>
          </a:prstGeom>
          <a:noFill/>
        </p:spPr>
        <p:txBody>
          <a:bodyPr wrap="square" rtlCol="0">
            <a:spAutoFit/>
          </a:bodyPr>
          <a:lstStyle/>
          <a:p>
            <a:r>
              <a:rPr lang="ja-JP" altLang="en-US" sz="2800" dirty="0"/>
              <a:t>実験の目的</a:t>
            </a:r>
            <a:endParaRPr kumimoji="1" lang="ja-JP" altLang="en-US" sz="2800" dirty="0"/>
          </a:p>
        </p:txBody>
      </p:sp>
      <p:sp>
        <p:nvSpPr>
          <p:cNvPr id="7" name="テキスト ボックス 6">
            <a:extLst>
              <a:ext uri="{FF2B5EF4-FFF2-40B4-BE49-F238E27FC236}">
                <a16:creationId xmlns:a16="http://schemas.microsoft.com/office/drawing/2014/main" id="{6CA2916C-F34E-FD0A-F709-2B1D7169B456}"/>
              </a:ext>
            </a:extLst>
          </p:cNvPr>
          <p:cNvSpPr txBox="1"/>
          <p:nvPr/>
        </p:nvSpPr>
        <p:spPr>
          <a:xfrm>
            <a:off x="396072" y="982176"/>
            <a:ext cx="7900905" cy="4893647"/>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t>文書分類における主要手法の性能と特徴を比較</a:t>
            </a:r>
            <a:endParaRPr lang="en-US" altLang="ja-JP" sz="2400" dirty="0"/>
          </a:p>
          <a:p>
            <a:pPr marL="800100" lvl="1" indent="-342900">
              <a:buSzPct val="75000"/>
              <a:buFont typeface="Arial" panose="020B0604020202020204" pitchFamily="34" charset="0"/>
              <a:buChar char="•"/>
            </a:pPr>
            <a:r>
              <a:rPr lang="ja-JP" altLang="en-US" sz="2400" dirty="0"/>
              <a:t>学習データ量やクラスの偏りに応じた性能変化</a:t>
            </a:r>
            <a:endParaRPr lang="en-US" altLang="ja-JP" sz="2400" dirty="0"/>
          </a:p>
          <a:p>
            <a:pPr marL="800100" lvl="1" indent="-342900">
              <a:buSzPct val="75000"/>
              <a:buFont typeface="Arial" panose="020B0604020202020204" pitchFamily="34" charset="0"/>
              <a:buChar char="•"/>
            </a:pPr>
            <a:r>
              <a:rPr lang="ja-JP" altLang="en-US" sz="2400" dirty="0"/>
              <a:t>各手法の性能，コスト，実用性のバランス</a:t>
            </a:r>
            <a:endParaRPr lang="en-US" altLang="ja-JP" sz="2400" dirty="0"/>
          </a:p>
          <a:p>
            <a:pPr marL="342900" indent="-342900">
              <a:buFont typeface="Arial" panose="020B0604020202020204" pitchFamily="34" charset="0"/>
              <a:buChar char="•"/>
            </a:pPr>
            <a:endParaRPr lang="en-US" altLang="ja-JP" sz="2400" dirty="0"/>
          </a:p>
          <a:p>
            <a:pPr marL="342900" indent="-342900">
              <a:buFont typeface="Arial" panose="020B0604020202020204" pitchFamily="34" charset="0"/>
              <a:buChar char="•"/>
            </a:pPr>
            <a:r>
              <a:rPr lang="ja-JP" altLang="en-US" sz="2400" dirty="0"/>
              <a:t>比較する手法</a:t>
            </a:r>
            <a:endParaRPr lang="en-US" altLang="ja-JP" sz="2400" dirty="0"/>
          </a:p>
          <a:p>
            <a:pPr marL="914400" lvl="1" indent="-457200">
              <a:buSzPct val="100000"/>
              <a:buFont typeface="+mj-lt"/>
              <a:buAutoNum type="arabicPeriod"/>
            </a:pPr>
            <a:r>
              <a:rPr lang="ja-JP" altLang="en-US" sz="2400" dirty="0"/>
              <a:t>ナイーブベイズ</a:t>
            </a:r>
            <a:endParaRPr lang="en-US" altLang="ja-JP" sz="2400" dirty="0"/>
          </a:p>
          <a:p>
            <a:pPr marL="914400" lvl="1" indent="-457200">
              <a:buSzPct val="100000"/>
              <a:buFont typeface="+mj-lt"/>
              <a:buAutoNum type="arabicPeriod"/>
            </a:pPr>
            <a:r>
              <a:rPr lang="en-US" altLang="ja-JP" sz="2400" dirty="0"/>
              <a:t>LSTM</a:t>
            </a:r>
          </a:p>
          <a:p>
            <a:pPr marL="914400" lvl="1" indent="-457200">
              <a:buSzPct val="100000"/>
              <a:buFont typeface="+mj-lt"/>
              <a:buAutoNum type="arabicPeriod"/>
            </a:pPr>
            <a:r>
              <a:rPr lang="en-US" altLang="ja-JP" sz="2400" dirty="0"/>
              <a:t>Transformer</a:t>
            </a:r>
            <a:r>
              <a:rPr lang="ja-JP" altLang="en-US" sz="2400" dirty="0"/>
              <a:t>（事前学習済みモデルなし）</a:t>
            </a:r>
            <a:endParaRPr lang="en-US" altLang="ja-JP" sz="2400" dirty="0"/>
          </a:p>
          <a:p>
            <a:pPr marL="914400" lvl="1" indent="-457200">
              <a:buSzPct val="100000"/>
              <a:buFont typeface="+mj-lt"/>
              <a:buAutoNum type="arabicPeriod"/>
            </a:pPr>
            <a:r>
              <a:rPr lang="ja-JP" altLang="en-US" sz="2400" dirty="0"/>
              <a:t>事前学習済みモデル（</a:t>
            </a:r>
            <a:r>
              <a:rPr lang="en-US" altLang="ja-JP" sz="2400" dirty="0"/>
              <a:t>BERT</a:t>
            </a:r>
            <a:r>
              <a:rPr lang="ja-JP" altLang="en-US" sz="2400" dirty="0"/>
              <a:t>系を予定）</a:t>
            </a:r>
            <a:endParaRPr lang="en-US" altLang="ja-JP" sz="2400" dirty="0"/>
          </a:p>
          <a:p>
            <a:pPr>
              <a:buSzPct val="75000"/>
            </a:pPr>
            <a:endParaRPr lang="en-US" altLang="ja-JP" sz="2400" dirty="0"/>
          </a:p>
          <a:p>
            <a:r>
              <a:rPr lang="en-US" altLang="ja-JP" sz="2400" dirty="0"/>
              <a:t>※</a:t>
            </a:r>
            <a:r>
              <a:rPr lang="ja-JP" altLang="en-US" sz="2400" dirty="0"/>
              <a:t> </a:t>
            </a:r>
            <a:r>
              <a:rPr lang="en-US" altLang="ja-JP" sz="2400" dirty="0"/>
              <a:t>LSTM</a:t>
            </a:r>
            <a:r>
              <a:rPr lang="ja-JP" altLang="en-US" sz="2400" dirty="0"/>
              <a:t>と</a:t>
            </a:r>
            <a:r>
              <a:rPr lang="en-US" altLang="ja-JP" sz="2400" dirty="0"/>
              <a:t>Transformer</a:t>
            </a:r>
            <a:r>
              <a:rPr lang="ja-JP" altLang="en-US" sz="2400" dirty="0"/>
              <a:t>において，単語の埋め込みは</a:t>
            </a:r>
            <a:br>
              <a:rPr lang="en-US" altLang="ja-JP" sz="2400" dirty="0"/>
            </a:br>
            <a:r>
              <a:rPr lang="ja-JP" altLang="en-US" sz="2400" dirty="0"/>
              <a:t>　 公開されている事前学習済みベクトルを使用</a:t>
            </a:r>
            <a:br>
              <a:rPr lang="en-US" altLang="ja-JP" sz="2400" dirty="0"/>
            </a:br>
            <a:r>
              <a:rPr lang="ja-JP" altLang="en-US" sz="2400" dirty="0"/>
              <a:t>　</a:t>
            </a:r>
            <a:r>
              <a:rPr lang="en-US" altLang="ja-JP" sz="2400" dirty="0" err="1"/>
              <a:t>facebook</a:t>
            </a:r>
            <a:r>
              <a:rPr lang="en-US" altLang="ja-JP" sz="2400" dirty="0"/>
              <a:t>/</a:t>
            </a:r>
            <a:r>
              <a:rPr lang="en-US" altLang="ja-JP" sz="2400" dirty="0" err="1"/>
              <a:t>jasttext</a:t>
            </a:r>
            <a:r>
              <a:rPr lang="en-US" altLang="ja-JP" sz="2400" dirty="0"/>
              <a:t>-ja-vectors[1]</a:t>
            </a:r>
          </a:p>
        </p:txBody>
      </p:sp>
      <p:sp>
        <p:nvSpPr>
          <p:cNvPr id="3" name="テキスト ボックス 2">
            <a:extLst>
              <a:ext uri="{FF2B5EF4-FFF2-40B4-BE49-F238E27FC236}">
                <a16:creationId xmlns:a16="http://schemas.microsoft.com/office/drawing/2014/main" id="{BB3042FF-F4A2-5C35-12B8-4C20A6E822A2}"/>
              </a:ext>
            </a:extLst>
          </p:cNvPr>
          <p:cNvSpPr txBox="1"/>
          <p:nvPr/>
        </p:nvSpPr>
        <p:spPr>
          <a:xfrm>
            <a:off x="1030735" y="6378571"/>
            <a:ext cx="6631577" cy="369332"/>
          </a:xfrm>
          <a:prstGeom prst="rect">
            <a:avLst/>
          </a:prstGeom>
          <a:noFill/>
        </p:spPr>
        <p:txBody>
          <a:bodyPr wrap="square">
            <a:spAutoFit/>
          </a:bodyPr>
          <a:lstStyle/>
          <a:p>
            <a:r>
              <a:rPr lang="en-US" altLang="ja-JP" dirty="0"/>
              <a:t>[1] https://huggingface.co/facebook/fasttext-ja-vectors</a:t>
            </a:r>
            <a:endParaRPr lang="ja-JP" altLang="en-US" dirty="0"/>
          </a:p>
        </p:txBody>
      </p:sp>
    </p:spTree>
    <p:extLst>
      <p:ext uri="{BB962C8B-B14F-4D97-AF65-F5344CB8AC3E}">
        <p14:creationId xmlns:p14="http://schemas.microsoft.com/office/powerpoint/2010/main" val="3003813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A9C23-0DA4-99AA-492A-CD0B102BCBE4}"/>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3308099-B055-5B5C-0C54-5EADC5912670}"/>
              </a:ext>
            </a:extLst>
          </p:cNvPr>
          <p:cNvSpPr>
            <a:spLocks noGrp="1"/>
          </p:cNvSpPr>
          <p:nvPr>
            <p:ph type="sldNum" sz="quarter" idx="12"/>
          </p:nvPr>
        </p:nvSpPr>
        <p:spPr/>
        <p:txBody>
          <a:bodyPr/>
          <a:lstStyle/>
          <a:p>
            <a:fld id="{ED76A291-9732-4BB9-869D-FB236AA77CE3}" type="slidenum">
              <a:rPr lang="ja-JP" altLang="en-US" smtClean="0"/>
              <a:pPr/>
              <a:t>4</a:t>
            </a:fld>
            <a:endParaRPr lang="ja-JP" altLang="en-US" dirty="0"/>
          </a:p>
        </p:txBody>
      </p:sp>
      <p:sp>
        <p:nvSpPr>
          <p:cNvPr id="6" name="テキスト ボックス 5">
            <a:extLst>
              <a:ext uri="{FF2B5EF4-FFF2-40B4-BE49-F238E27FC236}">
                <a16:creationId xmlns:a16="http://schemas.microsoft.com/office/drawing/2014/main" id="{CCBDE427-F822-86D8-7F69-8CE798C905D7}"/>
              </a:ext>
            </a:extLst>
          </p:cNvPr>
          <p:cNvSpPr txBox="1"/>
          <p:nvPr/>
        </p:nvSpPr>
        <p:spPr>
          <a:xfrm>
            <a:off x="180420" y="139047"/>
            <a:ext cx="4708103" cy="523220"/>
          </a:xfrm>
          <a:prstGeom prst="rect">
            <a:avLst/>
          </a:prstGeom>
          <a:noFill/>
        </p:spPr>
        <p:txBody>
          <a:bodyPr wrap="square" rtlCol="0">
            <a:spAutoFit/>
          </a:bodyPr>
          <a:lstStyle/>
          <a:p>
            <a:r>
              <a:rPr lang="ja-JP" altLang="en-US" sz="2800" dirty="0"/>
              <a:t>各手法の選定理由</a:t>
            </a:r>
            <a:endParaRPr kumimoji="1" lang="ja-JP" altLang="en-US" sz="2800" dirty="0"/>
          </a:p>
        </p:txBody>
      </p:sp>
      <p:sp>
        <p:nvSpPr>
          <p:cNvPr id="3" name="テキスト ボックス 2">
            <a:extLst>
              <a:ext uri="{FF2B5EF4-FFF2-40B4-BE49-F238E27FC236}">
                <a16:creationId xmlns:a16="http://schemas.microsoft.com/office/drawing/2014/main" id="{5EB08043-8C00-7262-DDC1-E11E72D2DED7}"/>
              </a:ext>
            </a:extLst>
          </p:cNvPr>
          <p:cNvSpPr txBox="1"/>
          <p:nvPr/>
        </p:nvSpPr>
        <p:spPr>
          <a:xfrm>
            <a:off x="396072" y="982176"/>
            <a:ext cx="7900905" cy="5632311"/>
          </a:xfrm>
          <a:prstGeom prst="rect">
            <a:avLst/>
          </a:prstGeom>
          <a:noFill/>
        </p:spPr>
        <p:txBody>
          <a:bodyPr wrap="square" rtlCol="0">
            <a:spAutoFit/>
          </a:bodyPr>
          <a:lstStyle/>
          <a:p>
            <a:pPr marL="457200" indent="-457200">
              <a:buFont typeface="+mj-lt"/>
              <a:buAutoNum type="arabicPeriod"/>
            </a:pPr>
            <a:r>
              <a:rPr lang="ja-JP" altLang="en-US" sz="2400" dirty="0"/>
              <a:t>ナイーブベイズ</a:t>
            </a:r>
            <a:endParaRPr lang="en-US" altLang="ja-JP" sz="2400" dirty="0"/>
          </a:p>
          <a:p>
            <a:pPr marL="914400" lvl="1" indent="-457200">
              <a:buFont typeface="Arial" panose="020B0604020202020204" pitchFamily="34" charset="0"/>
              <a:buChar char="•"/>
            </a:pPr>
            <a:r>
              <a:rPr lang="ja-JP" altLang="en-US" sz="2400" dirty="0"/>
              <a:t>古典的な統計に基づいた手法</a:t>
            </a:r>
            <a:endParaRPr lang="en-US" altLang="ja-JP" sz="2400" dirty="0"/>
          </a:p>
          <a:p>
            <a:pPr marL="914400" lvl="1" indent="-457200">
              <a:buFont typeface="Arial" panose="020B0604020202020204" pitchFamily="34" charset="0"/>
              <a:buChar char="•"/>
            </a:pPr>
            <a:r>
              <a:rPr lang="ja-JP" altLang="en-US" sz="2400" dirty="0"/>
              <a:t>ベースライン</a:t>
            </a:r>
            <a:endParaRPr lang="en-US" altLang="ja-JP" sz="2400" dirty="0"/>
          </a:p>
          <a:p>
            <a:pPr marL="914400" lvl="1" indent="-457200">
              <a:buFont typeface="Arial" panose="020B0604020202020204" pitchFamily="34" charset="0"/>
              <a:buChar char="•"/>
            </a:pPr>
            <a:endParaRPr lang="en-US" altLang="ja-JP" sz="2400" dirty="0"/>
          </a:p>
          <a:p>
            <a:pPr marL="457200" indent="-457200">
              <a:buFont typeface="+mj-lt"/>
              <a:buAutoNum type="arabicPeriod"/>
            </a:pPr>
            <a:r>
              <a:rPr lang="en-US" altLang="ja-JP" sz="2400" dirty="0"/>
              <a:t>LSTM</a:t>
            </a:r>
          </a:p>
          <a:p>
            <a:pPr marL="914400" lvl="1" indent="-457200">
              <a:buFont typeface="Arial" panose="020B0604020202020204" pitchFamily="34" charset="0"/>
              <a:buChar char="•"/>
            </a:pPr>
            <a:r>
              <a:rPr lang="ja-JP" altLang="en-US" sz="2400" dirty="0"/>
              <a:t>深層学習で文脈を考慮する基本的なモデル</a:t>
            </a:r>
            <a:endParaRPr lang="en-US" altLang="ja-JP" sz="2400" dirty="0"/>
          </a:p>
          <a:p>
            <a:pPr marL="914400" lvl="1" indent="-457200">
              <a:buFont typeface="Arial" panose="020B0604020202020204" pitchFamily="34" charset="0"/>
              <a:buChar char="•"/>
            </a:pPr>
            <a:r>
              <a:rPr lang="ja-JP" altLang="en-US" sz="2400" dirty="0"/>
              <a:t>系列処理の有効性</a:t>
            </a:r>
            <a:endParaRPr lang="en-US" altLang="ja-JP" sz="2400" dirty="0"/>
          </a:p>
          <a:p>
            <a:pPr lvl="1"/>
            <a:endParaRPr lang="en-US" altLang="ja-JP" sz="2400" dirty="0"/>
          </a:p>
          <a:p>
            <a:pPr marL="457200" indent="-457200">
              <a:buFont typeface="+mj-lt"/>
              <a:buAutoNum type="arabicPeriod"/>
            </a:pPr>
            <a:r>
              <a:rPr lang="en-US" altLang="ja-JP" sz="2400" dirty="0"/>
              <a:t>Transformer</a:t>
            </a:r>
          </a:p>
          <a:p>
            <a:pPr marL="914400" lvl="1" indent="-457200">
              <a:buFont typeface="Arial" panose="020B0604020202020204" pitchFamily="34" charset="0"/>
              <a:buChar char="•"/>
            </a:pPr>
            <a:r>
              <a:rPr lang="en-US" altLang="ja-JP" sz="2400" dirty="0"/>
              <a:t>LSTM</a:t>
            </a:r>
            <a:r>
              <a:rPr lang="ja-JP" altLang="en-US" sz="2400" dirty="0"/>
              <a:t>よりも長文に強い</a:t>
            </a:r>
            <a:endParaRPr lang="en-US" altLang="ja-JP" sz="2400" dirty="0"/>
          </a:p>
          <a:p>
            <a:pPr marL="914400" lvl="1" indent="-457200">
              <a:buFont typeface="Arial" panose="020B0604020202020204" pitchFamily="34" charset="0"/>
              <a:buChar char="•"/>
            </a:pPr>
            <a:r>
              <a:rPr lang="en-US" altLang="ja-JP" sz="2400" dirty="0"/>
              <a:t>LSTM</a:t>
            </a:r>
            <a:r>
              <a:rPr lang="ja-JP" altLang="en-US" sz="2400" dirty="0"/>
              <a:t>との性能差に注目</a:t>
            </a:r>
            <a:endParaRPr lang="en-US" altLang="ja-JP" sz="2400" dirty="0"/>
          </a:p>
          <a:p>
            <a:pPr marL="914400" lvl="1" indent="-457200">
              <a:buFont typeface="Arial" panose="020B0604020202020204" pitchFamily="34" charset="0"/>
              <a:buChar char="•"/>
            </a:pPr>
            <a:endParaRPr lang="en-US" altLang="ja-JP" sz="2400" dirty="0"/>
          </a:p>
          <a:p>
            <a:pPr marL="457200" indent="-457200">
              <a:buFont typeface="+mj-lt"/>
              <a:buAutoNum type="arabicPeriod"/>
            </a:pPr>
            <a:r>
              <a:rPr lang="ja-JP" altLang="en-US" sz="2400" dirty="0"/>
              <a:t>事前学習済みモデル</a:t>
            </a:r>
            <a:endParaRPr lang="en-US" altLang="ja-JP" sz="2400" dirty="0"/>
          </a:p>
          <a:p>
            <a:pPr marL="914400" lvl="1" indent="-457200">
              <a:buFont typeface="Arial" panose="020B0604020202020204" pitchFamily="34" charset="0"/>
              <a:buChar char="•"/>
            </a:pPr>
            <a:r>
              <a:rPr lang="ja-JP" altLang="en-US" sz="2400" dirty="0"/>
              <a:t>大規模コーパスで学習済み</a:t>
            </a:r>
            <a:endParaRPr lang="en-US" altLang="ja-JP" sz="2400" dirty="0"/>
          </a:p>
          <a:p>
            <a:pPr marL="914400" lvl="1" indent="-457200">
              <a:buFont typeface="Arial" panose="020B0604020202020204" pitchFamily="34" charset="0"/>
              <a:buChar char="•"/>
            </a:pPr>
            <a:r>
              <a:rPr lang="ja-JP" altLang="en-US" sz="2400" dirty="0"/>
              <a:t>事前学習の有効性</a:t>
            </a:r>
            <a:endParaRPr lang="en-US" altLang="ja-JP" sz="2400" dirty="0"/>
          </a:p>
        </p:txBody>
      </p:sp>
    </p:spTree>
    <p:extLst>
      <p:ext uri="{BB962C8B-B14F-4D97-AF65-F5344CB8AC3E}">
        <p14:creationId xmlns:p14="http://schemas.microsoft.com/office/powerpoint/2010/main" val="1038956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B4919-7E29-3ADE-7602-CAEED4D9FF94}"/>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D09B5E8-15CB-74A1-7B2B-F942254AA8D3}"/>
              </a:ext>
            </a:extLst>
          </p:cNvPr>
          <p:cNvSpPr>
            <a:spLocks noGrp="1"/>
          </p:cNvSpPr>
          <p:nvPr>
            <p:ph type="sldNum" sz="quarter" idx="12"/>
          </p:nvPr>
        </p:nvSpPr>
        <p:spPr/>
        <p:txBody>
          <a:bodyPr/>
          <a:lstStyle/>
          <a:p>
            <a:fld id="{ED76A291-9732-4BB9-869D-FB236AA77CE3}" type="slidenum">
              <a:rPr lang="ja-JP" altLang="en-US" smtClean="0"/>
              <a:pPr/>
              <a:t>5</a:t>
            </a:fld>
            <a:endParaRPr lang="ja-JP" altLang="en-US" dirty="0"/>
          </a:p>
        </p:txBody>
      </p:sp>
      <p:sp>
        <p:nvSpPr>
          <p:cNvPr id="6" name="テキスト ボックス 5">
            <a:extLst>
              <a:ext uri="{FF2B5EF4-FFF2-40B4-BE49-F238E27FC236}">
                <a16:creationId xmlns:a16="http://schemas.microsoft.com/office/drawing/2014/main" id="{9C4D0582-FA08-162D-04E9-DFB376A95EEB}"/>
              </a:ext>
            </a:extLst>
          </p:cNvPr>
          <p:cNvSpPr txBox="1"/>
          <p:nvPr/>
        </p:nvSpPr>
        <p:spPr>
          <a:xfrm>
            <a:off x="180420" y="139047"/>
            <a:ext cx="7952927" cy="523220"/>
          </a:xfrm>
          <a:prstGeom prst="rect">
            <a:avLst/>
          </a:prstGeom>
          <a:noFill/>
        </p:spPr>
        <p:txBody>
          <a:bodyPr wrap="square" rtlCol="0">
            <a:spAutoFit/>
          </a:bodyPr>
          <a:lstStyle/>
          <a:p>
            <a:r>
              <a:rPr kumimoji="1" lang="ja-JP" altLang="en-US" sz="2800" dirty="0"/>
              <a:t>作成するシステムの機能と使用データ</a:t>
            </a:r>
          </a:p>
        </p:txBody>
      </p:sp>
      <p:sp>
        <p:nvSpPr>
          <p:cNvPr id="7" name="テキスト ボックス 6">
            <a:extLst>
              <a:ext uri="{FF2B5EF4-FFF2-40B4-BE49-F238E27FC236}">
                <a16:creationId xmlns:a16="http://schemas.microsoft.com/office/drawing/2014/main" id="{D03D3B2D-762F-F307-4C4F-A7FA6D73720D}"/>
              </a:ext>
            </a:extLst>
          </p:cNvPr>
          <p:cNvSpPr txBox="1"/>
          <p:nvPr/>
        </p:nvSpPr>
        <p:spPr>
          <a:xfrm>
            <a:off x="396073" y="982176"/>
            <a:ext cx="8211662" cy="1938992"/>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t>日本語のニュースのカテゴリ分類</a:t>
            </a:r>
            <a:endParaRPr lang="en-US" altLang="ja-JP" sz="2400" dirty="0"/>
          </a:p>
          <a:p>
            <a:pPr marL="800100" lvl="1" indent="-342900">
              <a:buSzPct val="75000"/>
              <a:buFont typeface="Arial" panose="020B0604020202020204" pitchFamily="34" charset="0"/>
              <a:buChar char="•"/>
            </a:pPr>
            <a:r>
              <a:rPr lang="ja-JP" altLang="en-US" sz="2400" dirty="0"/>
              <a:t>使用データセットは</a:t>
            </a:r>
            <a:r>
              <a:rPr lang="en-US" altLang="ja-JP" sz="2400" dirty="0"/>
              <a:t>shunk031/livedoor-news-corpus[2]</a:t>
            </a:r>
          </a:p>
          <a:p>
            <a:pPr marL="1257300" lvl="2" indent="-342900">
              <a:buSzPct val="56000"/>
              <a:buFont typeface="Arial" panose="020B0604020202020204" pitchFamily="34" charset="0"/>
              <a:buChar char="•"/>
            </a:pPr>
            <a:r>
              <a:rPr lang="ja-JP" altLang="en-US" sz="2400" dirty="0"/>
              <a:t>スポーツなど，</a:t>
            </a:r>
            <a:r>
              <a:rPr lang="en-US" altLang="ja-JP" sz="2400" dirty="0"/>
              <a:t>9</a:t>
            </a:r>
            <a:r>
              <a:rPr lang="ja-JP" altLang="en-US" sz="2400" dirty="0"/>
              <a:t>種類のカテゴリ</a:t>
            </a:r>
            <a:endParaRPr lang="en-US" altLang="ja-JP" sz="2400" dirty="0"/>
          </a:p>
          <a:p>
            <a:pPr marL="1257300" lvl="2" indent="-342900">
              <a:buSzPct val="56000"/>
              <a:buFont typeface="Arial" panose="020B0604020202020204" pitchFamily="34" charset="0"/>
              <a:buChar char="•"/>
            </a:pPr>
            <a:r>
              <a:rPr lang="en-US" altLang="ja-JP" sz="2400" dirty="0"/>
              <a:t>1</a:t>
            </a:r>
            <a:r>
              <a:rPr lang="ja-JP" altLang="en-US" sz="2400" dirty="0"/>
              <a:t>カテゴリあたり</a:t>
            </a:r>
            <a:r>
              <a:rPr lang="en-US" altLang="ja-JP" sz="2400" dirty="0"/>
              <a:t>500</a:t>
            </a:r>
            <a:r>
              <a:rPr lang="ja-JP" altLang="en-US" sz="2400" dirty="0"/>
              <a:t>から</a:t>
            </a:r>
            <a:r>
              <a:rPr lang="en-US" altLang="ja-JP" sz="2400" dirty="0"/>
              <a:t>900</a:t>
            </a:r>
            <a:r>
              <a:rPr lang="ja-JP" altLang="en-US" sz="2400" dirty="0"/>
              <a:t>件程度</a:t>
            </a:r>
            <a:endParaRPr lang="en-US" altLang="ja-JP" sz="2400" dirty="0"/>
          </a:p>
          <a:p>
            <a:pPr marL="1257300" lvl="2" indent="-342900">
              <a:buSzPct val="56000"/>
              <a:buFont typeface="Arial" panose="020B0604020202020204" pitchFamily="34" charset="0"/>
              <a:buChar char="•"/>
            </a:pPr>
            <a:r>
              <a:rPr lang="ja-JP" altLang="en-US" sz="2400" dirty="0"/>
              <a:t>合計</a:t>
            </a:r>
            <a:r>
              <a:rPr lang="en-US" altLang="ja-JP" sz="2400" dirty="0"/>
              <a:t>7367</a:t>
            </a:r>
            <a:r>
              <a:rPr lang="ja-JP" altLang="en-US" sz="2400" dirty="0"/>
              <a:t>件</a:t>
            </a:r>
            <a:endParaRPr lang="en-US" altLang="ja-JP" sz="2400" dirty="0"/>
          </a:p>
        </p:txBody>
      </p:sp>
      <p:sp>
        <p:nvSpPr>
          <p:cNvPr id="3" name="四角形: 角を丸くする 2">
            <a:extLst>
              <a:ext uri="{FF2B5EF4-FFF2-40B4-BE49-F238E27FC236}">
                <a16:creationId xmlns:a16="http://schemas.microsoft.com/office/drawing/2014/main" id="{347F9173-83FA-E778-CDB5-B9836A3DFF04}"/>
              </a:ext>
            </a:extLst>
          </p:cNvPr>
          <p:cNvSpPr/>
          <p:nvPr/>
        </p:nvSpPr>
        <p:spPr>
          <a:xfrm>
            <a:off x="534515" y="2840481"/>
            <a:ext cx="7934778" cy="315929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400" dirty="0"/>
              <a:t>安藤美姫“日本の人の声は気になったり、今でも怖い”日本テレビ「バンクーバー</a:t>
            </a:r>
            <a:r>
              <a:rPr lang="en-US" altLang="ja-JP" sz="1400" dirty="0"/>
              <a:t>2010</a:t>
            </a:r>
            <a:r>
              <a:rPr lang="ja-JP" altLang="en-US" sz="1400" dirty="0"/>
              <a:t>」（</a:t>
            </a:r>
            <a:r>
              <a:rPr lang="en-US" altLang="ja-JP" sz="1400" dirty="0"/>
              <a:t>27</a:t>
            </a:r>
            <a:r>
              <a:rPr lang="ja-JP" altLang="en-US" sz="1400" dirty="0"/>
              <a:t>日放送）には女子フィギュアスケートで活躍した安藤美姫＆鈴木明子が出演、大舞台での演技から一夜明け、その心境を語った。「トリノと比べると、落ち着いて一日一日を過ごせて、メダルが目標だったので、残念だったんですけど、演技自体はオリンピックの舞台でミスなく終われて幸せでした。スケートやっててよかったな。初めて心から幸せだなと思えた」という安藤に、パーソナルベストを出し</a:t>
            </a:r>
            <a:r>
              <a:rPr lang="en-US" altLang="ja-JP" sz="1400" dirty="0"/>
              <a:t>8</a:t>
            </a:r>
            <a:r>
              <a:rPr lang="ja-JP" altLang="en-US" sz="1400" dirty="0"/>
              <a:t>位入賞を果たした鈴木明子は「無事に終わってホッとしています。想像していた通り、緊張するだろうなと思って入ってきていたので、予想通りすごい緊張感はあったんですけど、会場の空気感を目で見て、耳で感じて、肌でも感じられるようにしたいなと思って、そこから滑り出したいと思っていた」と振り返った。また、日本女子フィギュア勢で唯一トリノ五輪を経験している安藤は、前大会と比較したプレッシャーの差を訊かれると、「日本の人の声は気になったり、今でも怖い。どうやって言われるだろうとか。でも、そういうものを全日本で出してしまってジャンプの失敗に繋がったので、今回は一つの作品として、とにかく難易度を下げてでも一つの作品として滑りたかった」と明かし、そのプレッシャーの重さを感じさせた。</a:t>
            </a:r>
            <a:endParaRPr kumimoji="1" lang="ja-JP" altLang="en-US" sz="1400" dirty="0"/>
          </a:p>
        </p:txBody>
      </p:sp>
      <p:sp>
        <p:nvSpPr>
          <p:cNvPr id="4" name="テキスト ボックス 3">
            <a:extLst>
              <a:ext uri="{FF2B5EF4-FFF2-40B4-BE49-F238E27FC236}">
                <a16:creationId xmlns:a16="http://schemas.microsoft.com/office/drawing/2014/main" id="{0506676F-2922-339F-4F91-0EC0F73785D6}"/>
              </a:ext>
            </a:extLst>
          </p:cNvPr>
          <p:cNvSpPr txBox="1"/>
          <p:nvPr/>
        </p:nvSpPr>
        <p:spPr>
          <a:xfrm>
            <a:off x="2146627" y="6004911"/>
            <a:ext cx="4850745" cy="461665"/>
          </a:xfrm>
          <a:prstGeom prst="rect">
            <a:avLst/>
          </a:prstGeom>
          <a:noFill/>
        </p:spPr>
        <p:txBody>
          <a:bodyPr wrap="square" rtlCol="0">
            <a:spAutoFit/>
          </a:bodyPr>
          <a:lstStyle/>
          <a:p>
            <a:pPr algn="ctr"/>
            <a:r>
              <a:rPr lang="ja-JP" altLang="en-US" sz="2400" dirty="0"/>
              <a:t>文章例（カテゴリはスポーツ）</a:t>
            </a:r>
            <a:endParaRPr lang="en-US" altLang="ja-JP" sz="2400" dirty="0"/>
          </a:p>
        </p:txBody>
      </p:sp>
      <p:sp>
        <p:nvSpPr>
          <p:cNvPr id="10" name="テキスト ボックス 9">
            <a:extLst>
              <a:ext uri="{FF2B5EF4-FFF2-40B4-BE49-F238E27FC236}">
                <a16:creationId xmlns:a16="http://schemas.microsoft.com/office/drawing/2014/main" id="{09FDFD9C-F65C-EE36-AE64-AA2C5D411DDB}"/>
              </a:ext>
            </a:extLst>
          </p:cNvPr>
          <p:cNvSpPr txBox="1"/>
          <p:nvPr/>
        </p:nvSpPr>
        <p:spPr>
          <a:xfrm>
            <a:off x="1186115" y="6417760"/>
            <a:ext cx="6631577" cy="369332"/>
          </a:xfrm>
          <a:prstGeom prst="rect">
            <a:avLst/>
          </a:prstGeom>
          <a:noFill/>
        </p:spPr>
        <p:txBody>
          <a:bodyPr wrap="square">
            <a:spAutoFit/>
          </a:bodyPr>
          <a:lstStyle/>
          <a:p>
            <a:r>
              <a:rPr lang="en-US" altLang="ja-JP" dirty="0"/>
              <a:t>[2] </a:t>
            </a:r>
            <a:r>
              <a:rPr lang="ja-JP" altLang="en-US" dirty="0"/>
              <a:t>https://huggingface.co/datasets/shunk031/livedoor-news-corpus</a:t>
            </a:r>
          </a:p>
        </p:txBody>
      </p:sp>
    </p:spTree>
    <p:extLst>
      <p:ext uri="{BB962C8B-B14F-4D97-AF65-F5344CB8AC3E}">
        <p14:creationId xmlns:p14="http://schemas.microsoft.com/office/powerpoint/2010/main" val="4231916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0DF2B-F8CD-1331-187B-753FC2CC2879}"/>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AA584FE-BDEF-0D62-3FB8-67943C48E518}"/>
              </a:ext>
            </a:extLst>
          </p:cNvPr>
          <p:cNvSpPr>
            <a:spLocks noGrp="1"/>
          </p:cNvSpPr>
          <p:nvPr>
            <p:ph type="sldNum" sz="quarter" idx="12"/>
          </p:nvPr>
        </p:nvSpPr>
        <p:spPr/>
        <p:txBody>
          <a:bodyPr/>
          <a:lstStyle/>
          <a:p>
            <a:fld id="{ED76A291-9732-4BB9-869D-FB236AA77CE3}" type="slidenum">
              <a:rPr lang="ja-JP" altLang="en-US" smtClean="0"/>
              <a:pPr/>
              <a:t>6</a:t>
            </a:fld>
            <a:endParaRPr lang="ja-JP" altLang="en-US" dirty="0"/>
          </a:p>
        </p:txBody>
      </p:sp>
      <p:sp>
        <p:nvSpPr>
          <p:cNvPr id="6" name="テキスト ボックス 5">
            <a:extLst>
              <a:ext uri="{FF2B5EF4-FFF2-40B4-BE49-F238E27FC236}">
                <a16:creationId xmlns:a16="http://schemas.microsoft.com/office/drawing/2014/main" id="{5B4B8DB3-07ED-56A3-8BC4-98C2CFFF4842}"/>
              </a:ext>
            </a:extLst>
          </p:cNvPr>
          <p:cNvSpPr txBox="1"/>
          <p:nvPr/>
        </p:nvSpPr>
        <p:spPr>
          <a:xfrm>
            <a:off x="180420" y="139047"/>
            <a:ext cx="7096279" cy="523220"/>
          </a:xfrm>
          <a:prstGeom prst="rect">
            <a:avLst/>
          </a:prstGeom>
          <a:noFill/>
        </p:spPr>
        <p:txBody>
          <a:bodyPr wrap="square" rtlCol="0">
            <a:spAutoFit/>
          </a:bodyPr>
          <a:lstStyle/>
          <a:p>
            <a:r>
              <a:rPr kumimoji="1" lang="ja-JP" altLang="en-US" sz="2800" dirty="0"/>
              <a:t>処理内容・手順  </a:t>
            </a:r>
            <a:r>
              <a:rPr kumimoji="1" lang="en-US" altLang="ja-JP" sz="2800" dirty="0"/>
              <a:t>(1)</a:t>
            </a:r>
            <a:r>
              <a:rPr kumimoji="1" lang="ja-JP" altLang="en-US" sz="2800" dirty="0"/>
              <a:t> 前処理</a:t>
            </a:r>
          </a:p>
        </p:txBody>
      </p:sp>
      <p:sp>
        <p:nvSpPr>
          <p:cNvPr id="3" name="テキスト ボックス 2">
            <a:extLst>
              <a:ext uri="{FF2B5EF4-FFF2-40B4-BE49-F238E27FC236}">
                <a16:creationId xmlns:a16="http://schemas.microsoft.com/office/drawing/2014/main" id="{1C2ADFFF-98C4-C34C-8C43-D217C0CCC055}"/>
              </a:ext>
            </a:extLst>
          </p:cNvPr>
          <p:cNvSpPr txBox="1"/>
          <p:nvPr/>
        </p:nvSpPr>
        <p:spPr>
          <a:xfrm>
            <a:off x="396073" y="982176"/>
            <a:ext cx="9122396" cy="4893647"/>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t>全手法に共通した前処理</a:t>
            </a:r>
            <a:endParaRPr lang="en-US" altLang="ja-JP" sz="2400" dirty="0"/>
          </a:p>
          <a:p>
            <a:pPr marL="800100" lvl="1" indent="-342900">
              <a:buSzPct val="75000"/>
              <a:buFont typeface="Arial" panose="020B0604020202020204" pitchFamily="34" charset="0"/>
              <a:buChar char="•"/>
            </a:pPr>
            <a:r>
              <a:rPr lang="ja-JP" altLang="en-US" sz="2400" dirty="0"/>
              <a:t>データ分割（</a:t>
            </a:r>
            <a:r>
              <a:rPr lang="en-US" altLang="ja-JP" sz="2400" dirty="0"/>
              <a:t>train/</a:t>
            </a:r>
            <a:r>
              <a:rPr lang="en-US" altLang="ja-JP" sz="2400" dirty="0" err="1"/>
              <a:t>val</a:t>
            </a:r>
            <a:r>
              <a:rPr lang="en-US" altLang="ja-JP" sz="2400" dirty="0"/>
              <a:t>/test</a:t>
            </a:r>
            <a:r>
              <a:rPr lang="ja-JP" altLang="en-US" sz="2400" dirty="0"/>
              <a:t>や，</a:t>
            </a:r>
            <a:r>
              <a:rPr lang="en-US" altLang="ja-JP" sz="2400" dirty="0"/>
              <a:t>k-fold cross validation</a:t>
            </a:r>
            <a:r>
              <a:rPr lang="ja-JP" altLang="en-US" sz="2400" dirty="0"/>
              <a:t>）</a:t>
            </a:r>
            <a:endParaRPr lang="en-US" altLang="ja-JP" sz="2400" dirty="0"/>
          </a:p>
          <a:p>
            <a:pPr marL="800100" lvl="1" indent="-342900">
              <a:buSzPct val="75000"/>
              <a:buFont typeface="Arial" panose="020B0604020202020204" pitchFamily="34" charset="0"/>
              <a:buChar char="•"/>
            </a:pPr>
            <a:r>
              <a:rPr lang="ja-JP" altLang="en-US" sz="2400" dirty="0"/>
              <a:t>正規化（全角半角や大文字小文字などの統一）</a:t>
            </a:r>
            <a:endParaRPr lang="en-US" altLang="ja-JP" sz="2400" dirty="0"/>
          </a:p>
          <a:p>
            <a:pPr marL="800100" lvl="1" indent="-342900">
              <a:buSzPct val="75000"/>
              <a:buFont typeface="Arial" panose="020B0604020202020204" pitchFamily="34" charset="0"/>
              <a:buChar char="•"/>
            </a:pPr>
            <a:endParaRPr lang="en-US" altLang="ja-JP" sz="2400" dirty="0"/>
          </a:p>
          <a:p>
            <a:pPr marL="342900" indent="-342900">
              <a:buSzPct val="100000"/>
              <a:buFont typeface="Arial" panose="020B0604020202020204" pitchFamily="34" charset="0"/>
              <a:buChar char="•"/>
            </a:pPr>
            <a:r>
              <a:rPr lang="ja-JP" altLang="en-US" sz="2400" dirty="0"/>
              <a:t>他に準備した前処理</a:t>
            </a:r>
            <a:endParaRPr lang="en-US" altLang="ja-JP" sz="2400" dirty="0"/>
          </a:p>
          <a:p>
            <a:pPr marL="800100" lvl="1" indent="-342900">
              <a:buSzPct val="75000"/>
              <a:buFont typeface="Arial" panose="020B0604020202020204" pitchFamily="34" charset="0"/>
              <a:buChar char="•"/>
            </a:pPr>
            <a:r>
              <a:rPr lang="ja-JP" altLang="en-US" sz="2400" dirty="0"/>
              <a:t>単語分割</a:t>
            </a:r>
            <a:endParaRPr lang="en-US" altLang="ja-JP" sz="2400" dirty="0"/>
          </a:p>
          <a:p>
            <a:pPr marL="800100" lvl="1" indent="-342900">
              <a:buSzPct val="75000"/>
              <a:buFont typeface="Arial" panose="020B0604020202020204" pitchFamily="34" charset="0"/>
              <a:buChar char="•"/>
            </a:pPr>
            <a:r>
              <a:rPr lang="ja-JP" altLang="en-US" sz="2400" dirty="0"/>
              <a:t>活用形を基本形に統一</a:t>
            </a:r>
            <a:endParaRPr lang="en-US" altLang="ja-JP" sz="2400" dirty="0"/>
          </a:p>
          <a:p>
            <a:pPr marL="800100" lvl="1" indent="-342900">
              <a:buSzPct val="75000"/>
              <a:buFont typeface="Arial" panose="020B0604020202020204" pitchFamily="34" charset="0"/>
              <a:buChar char="•"/>
            </a:pPr>
            <a:r>
              <a:rPr lang="ja-JP" altLang="en-US" sz="2400" dirty="0"/>
              <a:t>記号除去</a:t>
            </a:r>
            <a:endParaRPr lang="en-US" altLang="ja-JP" sz="2400" dirty="0"/>
          </a:p>
          <a:p>
            <a:pPr marL="800100" lvl="1" indent="-342900">
              <a:buSzPct val="75000"/>
              <a:buFont typeface="Arial" panose="020B0604020202020204" pitchFamily="34" charset="0"/>
              <a:buChar char="•"/>
            </a:pPr>
            <a:r>
              <a:rPr lang="ja-JP" altLang="en-US" sz="2400" dirty="0"/>
              <a:t>ストップワード除去</a:t>
            </a:r>
            <a:br>
              <a:rPr lang="en-US" altLang="ja-JP" sz="2400" dirty="0"/>
            </a:br>
            <a:r>
              <a:rPr lang="ja-JP" altLang="en-US" sz="2400" dirty="0"/>
              <a:t>（「する」などの無意味な語の削除）</a:t>
            </a:r>
            <a:endParaRPr lang="en-US" altLang="ja-JP" sz="2400" dirty="0"/>
          </a:p>
          <a:p>
            <a:pPr marL="800100" lvl="1" indent="-342900">
              <a:buSzPct val="75000"/>
              <a:buFont typeface="Arial" panose="020B0604020202020204" pitchFamily="34" charset="0"/>
              <a:buChar char="•"/>
            </a:pPr>
            <a:endParaRPr lang="en-US" altLang="ja-JP" sz="2400" dirty="0"/>
          </a:p>
          <a:p>
            <a:pPr marL="342900" indent="-342900">
              <a:buSzPct val="100000"/>
              <a:buFont typeface="Arial" panose="020B0604020202020204" pitchFamily="34" charset="0"/>
              <a:buChar char="•"/>
            </a:pPr>
            <a:r>
              <a:rPr lang="ja-JP" altLang="en-US" sz="2400" dirty="0"/>
              <a:t>上の前処理をコンフィグで設定できるように作成</a:t>
            </a:r>
            <a:endParaRPr lang="en-US" altLang="ja-JP" sz="2400" dirty="0"/>
          </a:p>
          <a:p>
            <a:pPr marL="342900" indent="-342900">
              <a:buSzPct val="75000"/>
              <a:buFont typeface="Arial" panose="020B0604020202020204" pitchFamily="34" charset="0"/>
              <a:buChar char="•"/>
            </a:pPr>
            <a:endParaRPr lang="en-US" altLang="ja-JP" sz="2400" dirty="0"/>
          </a:p>
        </p:txBody>
      </p:sp>
    </p:spTree>
    <p:extLst>
      <p:ext uri="{BB962C8B-B14F-4D97-AF65-F5344CB8AC3E}">
        <p14:creationId xmlns:p14="http://schemas.microsoft.com/office/powerpoint/2010/main" val="2665422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C7B14-309E-138C-3179-E78467EC6BDB}"/>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9933A06-7D19-BE23-61D3-45DF05A53E5A}"/>
              </a:ext>
            </a:extLst>
          </p:cNvPr>
          <p:cNvSpPr>
            <a:spLocks noGrp="1"/>
          </p:cNvSpPr>
          <p:nvPr>
            <p:ph type="sldNum" sz="quarter" idx="12"/>
          </p:nvPr>
        </p:nvSpPr>
        <p:spPr/>
        <p:txBody>
          <a:bodyPr/>
          <a:lstStyle/>
          <a:p>
            <a:fld id="{ED76A291-9732-4BB9-869D-FB236AA77CE3}" type="slidenum">
              <a:rPr lang="ja-JP" altLang="en-US" smtClean="0"/>
              <a:pPr/>
              <a:t>7</a:t>
            </a:fld>
            <a:endParaRPr lang="ja-JP" altLang="en-US" dirty="0"/>
          </a:p>
        </p:txBody>
      </p:sp>
      <p:sp>
        <p:nvSpPr>
          <p:cNvPr id="6" name="テキスト ボックス 5">
            <a:extLst>
              <a:ext uri="{FF2B5EF4-FFF2-40B4-BE49-F238E27FC236}">
                <a16:creationId xmlns:a16="http://schemas.microsoft.com/office/drawing/2014/main" id="{C3F19CE4-0B95-3868-2751-E93615E4B8A2}"/>
              </a:ext>
            </a:extLst>
          </p:cNvPr>
          <p:cNvSpPr txBox="1"/>
          <p:nvPr/>
        </p:nvSpPr>
        <p:spPr>
          <a:xfrm>
            <a:off x="180420" y="139047"/>
            <a:ext cx="7096279" cy="523220"/>
          </a:xfrm>
          <a:prstGeom prst="rect">
            <a:avLst/>
          </a:prstGeom>
          <a:noFill/>
        </p:spPr>
        <p:txBody>
          <a:bodyPr wrap="square" rtlCol="0">
            <a:spAutoFit/>
          </a:bodyPr>
          <a:lstStyle/>
          <a:p>
            <a:r>
              <a:rPr kumimoji="1" lang="ja-JP" altLang="en-US" sz="2800" dirty="0"/>
              <a:t>処理内容・手順 </a:t>
            </a:r>
            <a:r>
              <a:rPr kumimoji="1" lang="en-US" altLang="ja-JP" sz="2800" dirty="0"/>
              <a:t>(2)</a:t>
            </a:r>
            <a:r>
              <a:rPr kumimoji="1" lang="ja-JP" altLang="en-US" sz="2800" dirty="0"/>
              <a:t> 各手法による学習</a:t>
            </a:r>
          </a:p>
        </p:txBody>
      </p:sp>
      <p:sp>
        <p:nvSpPr>
          <p:cNvPr id="3" name="テキスト ボックス 2">
            <a:extLst>
              <a:ext uri="{FF2B5EF4-FFF2-40B4-BE49-F238E27FC236}">
                <a16:creationId xmlns:a16="http://schemas.microsoft.com/office/drawing/2014/main" id="{EFCEC306-2C48-B6EF-803C-7E2838A2C24F}"/>
              </a:ext>
            </a:extLst>
          </p:cNvPr>
          <p:cNvSpPr txBox="1"/>
          <p:nvPr/>
        </p:nvSpPr>
        <p:spPr>
          <a:xfrm>
            <a:off x="396073" y="982176"/>
            <a:ext cx="8211662" cy="2308324"/>
          </a:xfrm>
          <a:prstGeom prst="rect">
            <a:avLst/>
          </a:prstGeom>
          <a:noFill/>
        </p:spPr>
        <p:txBody>
          <a:bodyPr wrap="square" rtlCol="0">
            <a:spAutoFit/>
          </a:bodyPr>
          <a:lstStyle/>
          <a:p>
            <a:pPr marL="342900" indent="-342900">
              <a:buFont typeface="Arial" panose="020B0604020202020204" pitchFamily="34" charset="0"/>
              <a:buChar char="•"/>
            </a:pPr>
            <a:r>
              <a:rPr lang="en-US" altLang="ja-JP" sz="2400" dirty="0"/>
              <a:t>(1)</a:t>
            </a:r>
            <a:r>
              <a:rPr lang="ja-JP" altLang="en-US" sz="2400" dirty="0"/>
              <a:t>で前処理されたデータを用い，各手法で学習</a:t>
            </a:r>
            <a:endParaRPr lang="en-US" altLang="ja-JP" sz="2400" dirty="0"/>
          </a:p>
          <a:p>
            <a:pPr marL="914400" lvl="1" indent="-457200">
              <a:buFont typeface="+mj-lt"/>
              <a:buAutoNum type="arabicPeriod"/>
            </a:pPr>
            <a:r>
              <a:rPr lang="ja-JP" altLang="en-US" sz="2400" dirty="0"/>
              <a:t>ナイーブベイズ</a:t>
            </a:r>
            <a:endParaRPr lang="en-US" altLang="ja-JP" sz="2400" dirty="0"/>
          </a:p>
          <a:p>
            <a:pPr marL="914400" lvl="1" indent="-457200">
              <a:buFont typeface="+mj-lt"/>
              <a:buAutoNum type="arabicPeriod"/>
            </a:pPr>
            <a:r>
              <a:rPr lang="en-US" altLang="ja-JP" sz="2400" dirty="0"/>
              <a:t>LSTM</a:t>
            </a:r>
          </a:p>
          <a:p>
            <a:pPr marL="914400" lvl="1" indent="-457200">
              <a:buFont typeface="+mj-lt"/>
              <a:buAutoNum type="arabicPeriod"/>
            </a:pPr>
            <a:r>
              <a:rPr lang="en-US" altLang="ja-JP" sz="2400" dirty="0"/>
              <a:t>Transformer</a:t>
            </a:r>
            <a:r>
              <a:rPr lang="ja-JP" altLang="en-US" sz="2400" dirty="0"/>
              <a:t>（事前学習済みモデルなし）</a:t>
            </a:r>
            <a:endParaRPr lang="en-US" altLang="ja-JP" sz="2400" dirty="0"/>
          </a:p>
          <a:p>
            <a:pPr marL="914400" lvl="1" indent="-457200">
              <a:buFont typeface="+mj-lt"/>
              <a:buAutoNum type="arabicPeriod"/>
            </a:pPr>
            <a:r>
              <a:rPr lang="ja-JP" altLang="en-US" sz="2400" dirty="0"/>
              <a:t>事前学習済みモデル（</a:t>
            </a:r>
            <a:r>
              <a:rPr lang="en-US" altLang="ja-JP" sz="2400" dirty="0"/>
              <a:t>BERT</a:t>
            </a:r>
            <a:r>
              <a:rPr lang="ja-JP" altLang="en-US" sz="2400" dirty="0"/>
              <a:t>系を予定）</a:t>
            </a:r>
            <a:endParaRPr lang="en-US" altLang="ja-JP" sz="2400" dirty="0"/>
          </a:p>
          <a:p>
            <a:endParaRPr lang="en-US" altLang="ja-JP" sz="2400" dirty="0"/>
          </a:p>
        </p:txBody>
      </p:sp>
    </p:spTree>
    <p:extLst>
      <p:ext uri="{BB962C8B-B14F-4D97-AF65-F5344CB8AC3E}">
        <p14:creationId xmlns:p14="http://schemas.microsoft.com/office/powerpoint/2010/main" val="335497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07FB-8B47-DB5C-4ACB-FC53546F2789}"/>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3B00CE9-EE0C-5C62-3365-38811A13C936}"/>
              </a:ext>
            </a:extLst>
          </p:cNvPr>
          <p:cNvSpPr>
            <a:spLocks noGrp="1"/>
          </p:cNvSpPr>
          <p:nvPr>
            <p:ph type="sldNum" sz="quarter" idx="12"/>
          </p:nvPr>
        </p:nvSpPr>
        <p:spPr/>
        <p:txBody>
          <a:bodyPr/>
          <a:lstStyle/>
          <a:p>
            <a:fld id="{ED76A291-9732-4BB9-869D-FB236AA77CE3}" type="slidenum">
              <a:rPr lang="ja-JP" altLang="en-US" smtClean="0"/>
              <a:pPr/>
              <a:t>8</a:t>
            </a:fld>
            <a:endParaRPr lang="ja-JP" altLang="en-US" dirty="0"/>
          </a:p>
        </p:txBody>
      </p:sp>
      <p:sp>
        <p:nvSpPr>
          <p:cNvPr id="6" name="テキスト ボックス 5">
            <a:extLst>
              <a:ext uri="{FF2B5EF4-FFF2-40B4-BE49-F238E27FC236}">
                <a16:creationId xmlns:a16="http://schemas.microsoft.com/office/drawing/2014/main" id="{DC3222A8-9894-E969-0A3E-DC3A29882E1D}"/>
              </a:ext>
            </a:extLst>
          </p:cNvPr>
          <p:cNvSpPr txBox="1"/>
          <p:nvPr/>
        </p:nvSpPr>
        <p:spPr>
          <a:xfrm>
            <a:off x="180420" y="139047"/>
            <a:ext cx="7096279" cy="523220"/>
          </a:xfrm>
          <a:prstGeom prst="rect">
            <a:avLst/>
          </a:prstGeom>
          <a:noFill/>
        </p:spPr>
        <p:txBody>
          <a:bodyPr wrap="square" rtlCol="0">
            <a:spAutoFit/>
          </a:bodyPr>
          <a:lstStyle/>
          <a:p>
            <a:r>
              <a:rPr kumimoji="1" lang="ja-JP" altLang="en-US" sz="2800" dirty="0"/>
              <a:t>処理内容・手順  </a:t>
            </a:r>
            <a:r>
              <a:rPr kumimoji="1" lang="en-US" altLang="ja-JP" sz="2800" dirty="0"/>
              <a:t>(2-1)</a:t>
            </a:r>
            <a:r>
              <a:rPr kumimoji="1" lang="ja-JP" altLang="en-US" sz="2800" dirty="0"/>
              <a:t> ナイーブベイズ</a:t>
            </a:r>
          </a:p>
        </p:txBody>
      </p:sp>
      <p:sp>
        <p:nvSpPr>
          <p:cNvPr id="3" name="テキスト ボックス 2">
            <a:extLst>
              <a:ext uri="{FF2B5EF4-FFF2-40B4-BE49-F238E27FC236}">
                <a16:creationId xmlns:a16="http://schemas.microsoft.com/office/drawing/2014/main" id="{E511C417-DA9B-4F2B-0DB1-D7638759D75C}"/>
              </a:ext>
            </a:extLst>
          </p:cNvPr>
          <p:cNvSpPr txBox="1"/>
          <p:nvPr/>
        </p:nvSpPr>
        <p:spPr>
          <a:xfrm>
            <a:off x="396073" y="982176"/>
            <a:ext cx="8665734" cy="3785652"/>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t>有効化する前処理（共通した前処理を除く）</a:t>
            </a:r>
            <a:endParaRPr lang="en-US" altLang="ja-JP" sz="2400" dirty="0"/>
          </a:p>
          <a:p>
            <a:pPr marL="800100" lvl="1" indent="-342900">
              <a:buSzPct val="75000"/>
              <a:buFont typeface="Arial" panose="020B0604020202020204" pitchFamily="34" charset="0"/>
              <a:buChar char="•"/>
            </a:pPr>
            <a:r>
              <a:rPr lang="ja-JP" altLang="en-US" sz="2400" dirty="0"/>
              <a:t>単語分割</a:t>
            </a:r>
            <a:endParaRPr lang="en-US" altLang="ja-JP" sz="2400" dirty="0"/>
          </a:p>
          <a:p>
            <a:pPr marL="800100" lvl="1" indent="-342900">
              <a:buSzPct val="75000"/>
              <a:buFont typeface="Arial" panose="020B0604020202020204" pitchFamily="34" charset="0"/>
              <a:buChar char="•"/>
            </a:pPr>
            <a:r>
              <a:rPr lang="ja-JP" altLang="en-US" sz="2400" dirty="0"/>
              <a:t>活用形を基本形に統一</a:t>
            </a:r>
            <a:endParaRPr lang="en-US" altLang="ja-JP" sz="2400" dirty="0"/>
          </a:p>
          <a:p>
            <a:pPr marL="800100" lvl="1" indent="-342900">
              <a:buSzPct val="75000"/>
              <a:buFont typeface="Arial" panose="020B0604020202020204" pitchFamily="34" charset="0"/>
              <a:buChar char="•"/>
            </a:pPr>
            <a:r>
              <a:rPr lang="ja-JP" altLang="en-US" sz="2400" dirty="0"/>
              <a:t>記号除去</a:t>
            </a:r>
            <a:endParaRPr lang="en-US" altLang="ja-JP" sz="2400" dirty="0"/>
          </a:p>
          <a:p>
            <a:pPr marL="800100" lvl="1" indent="-342900">
              <a:buSzPct val="75000"/>
              <a:buFont typeface="Arial" panose="020B0604020202020204" pitchFamily="34" charset="0"/>
              <a:buChar char="•"/>
            </a:pPr>
            <a:r>
              <a:rPr lang="ja-JP" altLang="en-US" sz="2400" dirty="0"/>
              <a:t>ストップワード除去</a:t>
            </a:r>
            <a:endParaRPr lang="en-US" altLang="ja-JP" sz="2400" dirty="0"/>
          </a:p>
          <a:p>
            <a:pPr marL="342900" indent="-342900">
              <a:buFont typeface="Arial" panose="020B0604020202020204" pitchFamily="34" charset="0"/>
              <a:buChar char="•"/>
            </a:pPr>
            <a:endParaRPr lang="en-US" altLang="ja-JP" sz="2400" dirty="0"/>
          </a:p>
          <a:p>
            <a:pPr marL="342900" indent="-342900">
              <a:buFont typeface="Arial" panose="020B0604020202020204" pitchFamily="34" charset="0"/>
              <a:buChar char="•"/>
            </a:pPr>
            <a:r>
              <a:rPr lang="ja-JP" altLang="en-US" sz="2400" dirty="0"/>
              <a:t>手順</a:t>
            </a:r>
            <a:endParaRPr lang="en-US" altLang="ja-JP" sz="2400" dirty="0"/>
          </a:p>
          <a:p>
            <a:pPr marL="914400" lvl="1" indent="-457200">
              <a:buFont typeface="+mj-lt"/>
              <a:buAutoNum type="arabicPeriod"/>
            </a:pPr>
            <a:r>
              <a:rPr lang="en-US" altLang="ja-JP" sz="2400" dirty="0"/>
              <a:t>TF-IDF</a:t>
            </a:r>
            <a:r>
              <a:rPr lang="ja-JP" altLang="en-US" sz="2400" dirty="0"/>
              <a:t>による文書のベクトル化</a:t>
            </a:r>
            <a:endParaRPr lang="en-US" altLang="ja-JP" sz="2400" dirty="0"/>
          </a:p>
          <a:p>
            <a:pPr marL="914400" lvl="1" indent="-457200">
              <a:buFont typeface="+mj-lt"/>
              <a:buAutoNum type="arabicPeriod"/>
            </a:pPr>
            <a:r>
              <a:rPr lang="ja-JP" altLang="en-US" sz="2400" dirty="0"/>
              <a:t>ナイーブベイズ分類器による学習</a:t>
            </a:r>
            <a:endParaRPr lang="en-US" altLang="ja-JP" sz="2400" dirty="0"/>
          </a:p>
          <a:p>
            <a:endParaRPr lang="en-US" altLang="ja-JP" sz="2400" dirty="0"/>
          </a:p>
        </p:txBody>
      </p:sp>
    </p:spTree>
    <p:extLst>
      <p:ext uri="{BB962C8B-B14F-4D97-AF65-F5344CB8AC3E}">
        <p14:creationId xmlns:p14="http://schemas.microsoft.com/office/powerpoint/2010/main" val="2547522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5615C-900A-27BA-668E-17DE603855DB}"/>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5B9D087-1B05-E81A-34C6-64BC62116780}"/>
              </a:ext>
            </a:extLst>
          </p:cNvPr>
          <p:cNvSpPr>
            <a:spLocks noGrp="1"/>
          </p:cNvSpPr>
          <p:nvPr>
            <p:ph type="sldNum" sz="quarter" idx="12"/>
          </p:nvPr>
        </p:nvSpPr>
        <p:spPr/>
        <p:txBody>
          <a:bodyPr/>
          <a:lstStyle/>
          <a:p>
            <a:fld id="{ED76A291-9732-4BB9-869D-FB236AA77CE3}" type="slidenum">
              <a:rPr lang="ja-JP" altLang="en-US" smtClean="0"/>
              <a:pPr/>
              <a:t>9</a:t>
            </a:fld>
            <a:endParaRPr lang="ja-JP" altLang="en-US" dirty="0"/>
          </a:p>
        </p:txBody>
      </p:sp>
      <p:sp>
        <p:nvSpPr>
          <p:cNvPr id="6" name="テキスト ボックス 5">
            <a:extLst>
              <a:ext uri="{FF2B5EF4-FFF2-40B4-BE49-F238E27FC236}">
                <a16:creationId xmlns:a16="http://schemas.microsoft.com/office/drawing/2014/main" id="{C53A4866-8144-569C-3033-EFCED1CBF2E1}"/>
              </a:ext>
            </a:extLst>
          </p:cNvPr>
          <p:cNvSpPr txBox="1"/>
          <p:nvPr/>
        </p:nvSpPr>
        <p:spPr>
          <a:xfrm>
            <a:off x="180420" y="139047"/>
            <a:ext cx="7096279" cy="523220"/>
          </a:xfrm>
          <a:prstGeom prst="rect">
            <a:avLst/>
          </a:prstGeom>
          <a:noFill/>
        </p:spPr>
        <p:txBody>
          <a:bodyPr wrap="square" rtlCol="0">
            <a:spAutoFit/>
          </a:bodyPr>
          <a:lstStyle/>
          <a:p>
            <a:r>
              <a:rPr kumimoji="1" lang="ja-JP" altLang="en-US" sz="2800" dirty="0"/>
              <a:t>処理内容・手順  </a:t>
            </a:r>
            <a:r>
              <a:rPr kumimoji="1" lang="en-US" altLang="ja-JP" sz="2800" dirty="0"/>
              <a:t>(2-2)</a:t>
            </a:r>
            <a:r>
              <a:rPr kumimoji="1" lang="ja-JP" altLang="en-US" sz="2800" dirty="0"/>
              <a:t> </a:t>
            </a:r>
            <a:r>
              <a:rPr kumimoji="1" lang="en-US" altLang="ja-JP" sz="2800" dirty="0"/>
              <a:t>LSTM</a:t>
            </a:r>
            <a:endParaRPr kumimoji="1" lang="ja-JP" altLang="en-US" sz="2800" dirty="0"/>
          </a:p>
        </p:txBody>
      </p:sp>
      <p:sp>
        <p:nvSpPr>
          <p:cNvPr id="3" name="テキスト ボックス 2">
            <a:extLst>
              <a:ext uri="{FF2B5EF4-FFF2-40B4-BE49-F238E27FC236}">
                <a16:creationId xmlns:a16="http://schemas.microsoft.com/office/drawing/2014/main" id="{1F31BA94-DC19-8D9C-3C01-91E0DECE441A}"/>
              </a:ext>
            </a:extLst>
          </p:cNvPr>
          <p:cNvSpPr txBox="1"/>
          <p:nvPr/>
        </p:nvSpPr>
        <p:spPr>
          <a:xfrm>
            <a:off x="396073" y="982176"/>
            <a:ext cx="8211662" cy="5262979"/>
          </a:xfrm>
          <a:prstGeom prst="rect">
            <a:avLst/>
          </a:prstGeom>
          <a:noFill/>
        </p:spPr>
        <p:txBody>
          <a:bodyPr wrap="square" rtlCol="0">
            <a:spAutoFit/>
          </a:bodyPr>
          <a:lstStyle/>
          <a:p>
            <a:pPr marL="457200" indent="-457200">
              <a:buFont typeface="Arial" panose="020B0604020202020204" pitchFamily="34" charset="0"/>
              <a:buChar char="•"/>
            </a:pPr>
            <a:r>
              <a:rPr lang="ja-JP" altLang="en-US" sz="2400" dirty="0"/>
              <a:t>有効化する前処理</a:t>
            </a:r>
            <a:endParaRPr lang="en-US" altLang="ja-JP" sz="2400" dirty="0"/>
          </a:p>
          <a:p>
            <a:pPr marL="800100" lvl="1" indent="-342900">
              <a:buSzPct val="75000"/>
              <a:buFont typeface="Arial" panose="020B0604020202020204" pitchFamily="34" charset="0"/>
              <a:buChar char="•"/>
            </a:pPr>
            <a:r>
              <a:rPr lang="ja-JP" altLang="en-US" sz="2400" dirty="0"/>
              <a:t>単語分割</a:t>
            </a:r>
            <a:endParaRPr lang="en-US" altLang="ja-JP" sz="2400" dirty="0"/>
          </a:p>
          <a:p>
            <a:pPr marL="800100" lvl="1" indent="-342900">
              <a:buSzPct val="75000"/>
              <a:buFont typeface="Arial" panose="020B0604020202020204" pitchFamily="34" charset="0"/>
              <a:buChar char="•"/>
            </a:pPr>
            <a:r>
              <a:rPr lang="ja-JP" altLang="en-US" sz="2400" dirty="0"/>
              <a:t>記号除去</a:t>
            </a:r>
            <a:endParaRPr lang="en-US" altLang="ja-JP" sz="2400" dirty="0"/>
          </a:p>
          <a:p>
            <a:pPr marL="800100" lvl="1" indent="-342900">
              <a:buSzPct val="75000"/>
              <a:buFont typeface="Arial" panose="020B0604020202020204" pitchFamily="34" charset="0"/>
              <a:buChar char="•"/>
            </a:pPr>
            <a:r>
              <a:rPr lang="ja-JP" altLang="en-US" sz="2400" dirty="0"/>
              <a:t>ストップワード除去</a:t>
            </a:r>
            <a:endParaRPr lang="en-US" altLang="ja-JP" sz="2400" dirty="0"/>
          </a:p>
          <a:p>
            <a:pPr marL="914400" lvl="1" indent="-457200">
              <a:buFont typeface="Arial" panose="020B0604020202020204" pitchFamily="34" charset="0"/>
              <a:buChar char="•"/>
            </a:pPr>
            <a:endParaRPr lang="en-US" altLang="ja-JP" sz="2400" dirty="0"/>
          </a:p>
          <a:p>
            <a:pPr marL="457200" indent="-457200">
              <a:buFont typeface="Arial" panose="020B0604020202020204" pitchFamily="34" charset="0"/>
              <a:buChar char="•"/>
            </a:pPr>
            <a:endParaRPr lang="en-US" altLang="ja-JP" sz="2400" dirty="0"/>
          </a:p>
          <a:p>
            <a:pPr marL="457200" indent="-457200">
              <a:buFont typeface="Arial" panose="020B0604020202020204" pitchFamily="34" charset="0"/>
              <a:buChar char="•"/>
            </a:pPr>
            <a:r>
              <a:rPr lang="ja-JP" altLang="en-US" sz="2400" dirty="0"/>
              <a:t>手順</a:t>
            </a:r>
            <a:endParaRPr lang="en-US" altLang="ja-JP" sz="2400" dirty="0"/>
          </a:p>
          <a:p>
            <a:pPr marL="914400" lvl="1" indent="-457200">
              <a:buFont typeface="+mj-lt"/>
              <a:buAutoNum type="arabicPeriod"/>
            </a:pPr>
            <a:r>
              <a:rPr lang="ja-JP" altLang="en-US" sz="2400" dirty="0"/>
              <a:t>単語</a:t>
            </a:r>
            <a:r>
              <a:rPr lang="en-US" altLang="ja-JP" sz="2400" dirty="0"/>
              <a:t>ID</a:t>
            </a:r>
            <a:r>
              <a:rPr lang="ja-JP" altLang="en-US" sz="2400" dirty="0"/>
              <a:t>化</a:t>
            </a:r>
            <a:endParaRPr lang="en-US" altLang="ja-JP" sz="2400" dirty="0"/>
          </a:p>
          <a:p>
            <a:pPr marL="914400" lvl="1" indent="-457200">
              <a:buFont typeface="+mj-lt"/>
              <a:buAutoNum type="arabicPeriod"/>
            </a:pPr>
            <a:r>
              <a:rPr lang="ja-JP" altLang="en-US" sz="2400" dirty="0"/>
              <a:t>単語ベクトル化（公開されたベクトル，</a:t>
            </a:r>
            <a:r>
              <a:rPr lang="en-US" altLang="ja-JP" sz="2400" dirty="0"/>
              <a:t> </a:t>
            </a:r>
            <a:r>
              <a:rPr lang="ja-JP" altLang="en-US" sz="2400" dirty="0"/>
              <a:t>　　　　　</a:t>
            </a:r>
            <a:br>
              <a:rPr lang="en-US" altLang="ja-JP" sz="2400" dirty="0"/>
            </a:br>
            <a:r>
              <a:rPr lang="ja-JP" altLang="en-US" sz="2400" dirty="0"/>
              <a:t>　　　　　　　　</a:t>
            </a:r>
            <a:r>
              <a:rPr lang="en-US" altLang="ja-JP" sz="2400" dirty="0" err="1"/>
              <a:t>facebook</a:t>
            </a:r>
            <a:r>
              <a:rPr lang="en-US" altLang="ja-JP" sz="2400" dirty="0"/>
              <a:t>/</a:t>
            </a:r>
            <a:r>
              <a:rPr lang="en-US" altLang="ja-JP" sz="2400" dirty="0" err="1"/>
              <a:t>fasttext</a:t>
            </a:r>
            <a:r>
              <a:rPr lang="en-US" altLang="ja-JP" sz="2400" dirty="0"/>
              <a:t>-ja-vectors[1]</a:t>
            </a:r>
            <a:br>
              <a:rPr lang="en-US" altLang="ja-JP" sz="2400" dirty="0"/>
            </a:br>
            <a:r>
              <a:rPr lang="en-US" altLang="ja-JP" sz="2400" dirty="0"/>
              <a:t>                                   </a:t>
            </a:r>
            <a:r>
              <a:rPr lang="ja-JP" altLang="en-US" sz="2400" dirty="0"/>
              <a:t>を使用）</a:t>
            </a:r>
            <a:endParaRPr lang="en-US" altLang="ja-JP" sz="2400" dirty="0"/>
          </a:p>
          <a:p>
            <a:pPr marL="914400" lvl="1" indent="-457200">
              <a:buFont typeface="+mj-lt"/>
              <a:buAutoNum type="arabicPeriod"/>
            </a:pPr>
            <a:r>
              <a:rPr lang="en-US" altLang="ja-JP" sz="2400" dirty="0"/>
              <a:t>LSTM</a:t>
            </a:r>
            <a:r>
              <a:rPr lang="ja-JP" altLang="en-US" sz="2400" dirty="0"/>
              <a:t>と全結合層からなるモデルで学習</a:t>
            </a:r>
            <a:endParaRPr lang="en-US" altLang="ja-JP" sz="2400" dirty="0"/>
          </a:p>
          <a:p>
            <a:pPr marL="457200" indent="-457200">
              <a:buFont typeface="+mj-lt"/>
              <a:buAutoNum type="arabicPeriod"/>
            </a:pPr>
            <a:endParaRPr lang="en-US" altLang="ja-JP" sz="2400" dirty="0"/>
          </a:p>
          <a:p>
            <a:pPr marL="342900" indent="-342900">
              <a:buFont typeface="Arial" panose="020B0604020202020204" pitchFamily="34" charset="0"/>
              <a:buChar char="•"/>
            </a:pPr>
            <a:endParaRPr lang="en-US" altLang="ja-JP" sz="2400" dirty="0"/>
          </a:p>
        </p:txBody>
      </p:sp>
      <p:sp>
        <p:nvSpPr>
          <p:cNvPr id="4" name="テキスト ボックス 3">
            <a:extLst>
              <a:ext uri="{FF2B5EF4-FFF2-40B4-BE49-F238E27FC236}">
                <a16:creationId xmlns:a16="http://schemas.microsoft.com/office/drawing/2014/main" id="{B658F011-D3B3-306D-234E-A9929BBA47FF}"/>
              </a:ext>
            </a:extLst>
          </p:cNvPr>
          <p:cNvSpPr txBox="1"/>
          <p:nvPr/>
        </p:nvSpPr>
        <p:spPr>
          <a:xfrm>
            <a:off x="1030735" y="6378571"/>
            <a:ext cx="6631577" cy="369332"/>
          </a:xfrm>
          <a:prstGeom prst="rect">
            <a:avLst/>
          </a:prstGeom>
          <a:noFill/>
        </p:spPr>
        <p:txBody>
          <a:bodyPr wrap="square">
            <a:spAutoFit/>
          </a:bodyPr>
          <a:lstStyle/>
          <a:p>
            <a:r>
              <a:rPr lang="en-US" altLang="ja-JP" dirty="0"/>
              <a:t>[1] https://huggingface.co/facebook/fasttext-ja-vectors</a:t>
            </a:r>
            <a:endParaRPr lang="ja-JP" altLang="en-US" dirty="0"/>
          </a:p>
        </p:txBody>
      </p:sp>
    </p:spTree>
    <p:extLst>
      <p:ext uri="{BB962C8B-B14F-4D97-AF65-F5344CB8AC3E}">
        <p14:creationId xmlns:p14="http://schemas.microsoft.com/office/powerpoint/2010/main" val="106909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904AB-88F1-E6CD-6666-EDE69670C2FB}"/>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C82FCF8-0A6D-309B-9DE2-91D1423AD7B4}"/>
              </a:ext>
            </a:extLst>
          </p:cNvPr>
          <p:cNvSpPr>
            <a:spLocks noGrp="1"/>
          </p:cNvSpPr>
          <p:nvPr>
            <p:ph type="sldNum" sz="quarter" idx="12"/>
          </p:nvPr>
        </p:nvSpPr>
        <p:spPr/>
        <p:txBody>
          <a:bodyPr/>
          <a:lstStyle/>
          <a:p>
            <a:fld id="{ED76A291-9732-4BB9-869D-FB236AA77CE3}" type="slidenum">
              <a:rPr lang="ja-JP" altLang="en-US" smtClean="0"/>
              <a:pPr/>
              <a:t>10</a:t>
            </a:fld>
            <a:endParaRPr lang="ja-JP" altLang="en-US" dirty="0"/>
          </a:p>
        </p:txBody>
      </p:sp>
      <p:sp>
        <p:nvSpPr>
          <p:cNvPr id="6" name="テキスト ボックス 5">
            <a:extLst>
              <a:ext uri="{FF2B5EF4-FFF2-40B4-BE49-F238E27FC236}">
                <a16:creationId xmlns:a16="http://schemas.microsoft.com/office/drawing/2014/main" id="{A266043B-0CD7-746C-D877-E7CBC51E53E3}"/>
              </a:ext>
            </a:extLst>
          </p:cNvPr>
          <p:cNvSpPr txBox="1"/>
          <p:nvPr/>
        </p:nvSpPr>
        <p:spPr>
          <a:xfrm>
            <a:off x="180420" y="139047"/>
            <a:ext cx="7096279" cy="523220"/>
          </a:xfrm>
          <a:prstGeom prst="rect">
            <a:avLst/>
          </a:prstGeom>
          <a:noFill/>
        </p:spPr>
        <p:txBody>
          <a:bodyPr wrap="square" rtlCol="0">
            <a:spAutoFit/>
          </a:bodyPr>
          <a:lstStyle/>
          <a:p>
            <a:r>
              <a:rPr kumimoji="1" lang="ja-JP" altLang="en-US" sz="2800" dirty="0"/>
              <a:t>処理内容・手順  </a:t>
            </a:r>
            <a:r>
              <a:rPr kumimoji="1" lang="en-US" altLang="ja-JP" sz="2800" dirty="0"/>
              <a:t>(2-3)</a:t>
            </a:r>
            <a:r>
              <a:rPr kumimoji="1" lang="ja-JP" altLang="en-US" sz="2800" dirty="0"/>
              <a:t> </a:t>
            </a:r>
            <a:r>
              <a:rPr kumimoji="1" lang="en-US" altLang="ja-JP" sz="2800" dirty="0"/>
              <a:t>Transformer</a:t>
            </a:r>
            <a:endParaRPr kumimoji="1" lang="ja-JP" altLang="en-US" sz="2800" dirty="0"/>
          </a:p>
        </p:txBody>
      </p:sp>
      <p:sp>
        <p:nvSpPr>
          <p:cNvPr id="3" name="テキスト ボックス 2">
            <a:extLst>
              <a:ext uri="{FF2B5EF4-FFF2-40B4-BE49-F238E27FC236}">
                <a16:creationId xmlns:a16="http://schemas.microsoft.com/office/drawing/2014/main" id="{1D04E513-E4CD-8A2D-7389-AB55B7EF0166}"/>
              </a:ext>
            </a:extLst>
          </p:cNvPr>
          <p:cNvSpPr txBox="1"/>
          <p:nvPr/>
        </p:nvSpPr>
        <p:spPr>
          <a:xfrm>
            <a:off x="396073" y="982176"/>
            <a:ext cx="8170411" cy="3785652"/>
          </a:xfrm>
          <a:prstGeom prst="rect">
            <a:avLst/>
          </a:prstGeom>
          <a:noFill/>
        </p:spPr>
        <p:txBody>
          <a:bodyPr wrap="square" rtlCol="0">
            <a:spAutoFit/>
          </a:bodyPr>
          <a:lstStyle/>
          <a:p>
            <a:pPr marL="457200" indent="-457200">
              <a:buFont typeface="Arial" panose="020B0604020202020204" pitchFamily="34" charset="0"/>
              <a:buChar char="•"/>
            </a:pPr>
            <a:r>
              <a:rPr lang="ja-JP" altLang="en-US" sz="2400" dirty="0"/>
              <a:t>有効化する前処理</a:t>
            </a:r>
            <a:endParaRPr lang="en-US" altLang="ja-JP" sz="2400" dirty="0"/>
          </a:p>
          <a:p>
            <a:pPr marL="800100" lvl="1" indent="-342900">
              <a:buSzPct val="75000"/>
              <a:buFont typeface="Arial" panose="020B0604020202020204" pitchFamily="34" charset="0"/>
              <a:buChar char="•"/>
            </a:pPr>
            <a:r>
              <a:rPr lang="ja-JP" altLang="en-US" sz="2400" dirty="0"/>
              <a:t>単語分割</a:t>
            </a:r>
            <a:endParaRPr lang="en-US" altLang="ja-JP" sz="2400" dirty="0"/>
          </a:p>
          <a:p>
            <a:pPr marL="800100" lvl="1" indent="-342900">
              <a:buSzPct val="75000"/>
              <a:buFont typeface="Arial" panose="020B0604020202020204" pitchFamily="34" charset="0"/>
              <a:buChar char="•"/>
            </a:pPr>
            <a:r>
              <a:rPr lang="ja-JP" altLang="en-US" sz="2400" dirty="0"/>
              <a:t>記号除去（句読点以外の記号のみ除去）</a:t>
            </a:r>
            <a:endParaRPr lang="en-US" altLang="ja-JP" sz="2400" dirty="0"/>
          </a:p>
          <a:p>
            <a:pPr marL="457200" indent="-457200">
              <a:buFont typeface="Arial" panose="020B0604020202020204" pitchFamily="34" charset="0"/>
              <a:buChar char="•"/>
            </a:pPr>
            <a:endParaRPr lang="en-US" altLang="ja-JP" sz="2400" dirty="0"/>
          </a:p>
          <a:p>
            <a:pPr marL="457200" indent="-457200">
              <a:buFont typeface="Arial" panose="020B0604020202020204" pitchFamily="34" charset="0"/>
              <a:buChar char="•"/>
            </a:pPr>
            <a:r>
              <a:rPr lang="ja-JP" altLang="en-US" sz="2400" dirty="0"/>
              <a:t>手順</a:t>
            </a:r>
            <a:endParaRPr lang="en-US" altLang="ja-JP" sz="2400" dirty="0"/>
          </a:p>
          <a:p>
            <a:pPr marL="914400" lvl="1" indent="-457200">
              <a:buFont typeface="+mj-lt"/>
              <a:buAutoNum type="arabicPeriod"/>
            </a:pPr>
            <a:r>
              <a:rPr lang="en-US" altLang="ja-JP" sz="2400" dirty="0"/>
              <a:t>Embedding</a:t>
            </a:r>
            <a:r>
              <a:rPr lang="ja-JP" altLang="en-US" sz="2400" dirty="0"/>
              <a:t>層は</a:t>
            </a:r>
            <a:r>
              <a:rPr lang="en-US" altLang="ja-JP" sz="2400" dirty="0"/>
              <a:t>LSTM</a:t>
            </a:r>
            <a:r>
              <a:rPr lang="ja-JP" altLang="en-US" sz="2400" dirty="0"/>
              <a:t>と同様に公開されたベクトル，</a:t>
            </a:r>
            <a:r>
              <a:rPr lang="en-US" altLang="ja-JP" sz="2400" dirty="0"/>
              <a:t> </a:t>
            </a:r>
            <a:r>
              <a:rPr lang="ja-JP" altLang="en-US" sz="2400" dirty="0"/>
              <a:t>　　</a:t>
            </a:r>
            <a:br>
              <a:rPr lang="en-US" altLang="ja-JP" sz="2400" dirty="0"/>
            </a:br>
            <a:r>
              <a:rPr lang="en-US" altLang="ja-JP" sz="2400" dirty="0" err="1"/>
              <a:t>facebook</a:t>
            </a:r>
            <a:r>
              <a:rPr lang="en-US" altLang="ja-JP" sz="2400" dirty="0"/>
              <a:t>/</a:t>
            </a:r>
            <a:r>
              <a:rPr lang="en-US" altLang="ja-JP" sz="2400" dirty="0" err="1"/>
              <a:t>fasttext</a:t>
            </a:r>
            <a:r>
              <a:rPr lang="en-US" altLang="ja-JP" sz="2400" dirty="0"/>
              <a:t>-ja-vectors[1]</a:t>
            </a:r>
            <a:r>
              <a:rPr lang="ja-JP" altLang="en-US" sz="2400" dirty="0"/>
              <a:t>を使用</a:t>
            </a:r>
            <a:endParaRPr lang="en-US" altLang="ja-JP" sz="2400" dirty="0"/>
          </a:p>
          <a:p>
            <a:pPr marL="914400" lvl="1" indent="-457200">
              <a:buFont typeface="+mj-lt"/>
              <a:buAutoNum type="arabicPeriod"/>
            </a:pPr>
            <a:r>
              <a:rPr lang="en-US" altLang="ja-JP" sz="2400" dirty="0"/>
              <a:t>Transformer</a:t>
            </a:r>
            <a:r>
              <a:rPr lang="ja-JP" altLang="en-US" sz="2400" dirty="0"/>
              <a:t>のエンコーダと全結合層からなる</a:t>
            </a:r>
            <a:br>
              <a:rPr lang="en-US" altLang="ja-JP" sz="2400" dirty="0"/>
            </a:br>
            <a:r>
              <a:rPr lang="ja-JP" altLang="en-US" sz="2400" dirty="0"/>
              <a:t>モデルの学習</a:t>
            </a:r>
            <a:endParaRPr lang="en-US" altLang="ja-JP" sz="2400" dirty="0"/>
          </a:p>
          <a:p>
            <a:pPr marL="342900" indent="-342900">
              <a:buFont typeface="Arial" panose="020B0604020202020204" pitchFamily="34" charset="0"/>
              <a:buChar char="•"/>
            </a:pPr>
            <a:endParaRPr lang="en-US" altLang="ja-JP" sz="2400" dirty="0"/>
          </a:p>
        </p:txBody>
      </p:sp>
      <p:sp>
        <p:nvSpPr>
          <p:cNvPr id="4" name="テキスト ボックス 3">
            <a:extLst>
              <a:ext uri="{FF2B5EF4-FFF2-40B4-BE49-F238E27FC236}">
                <a16:creationId xmlns:a16="http://schemas.microsoft.com/office/drawing/2014/main" id="{459EF6A9-EB24-0AC4-B759-4C3C746DDFBA}"/>
              </a:ext>
            </a:extLst>
          </p:cNvPr>
          <p:cNvSpPr txBox="1"/>
          <p:nvPr/>
        </p:nvSpPr>
        <p:spPr>
          <a:xfrm>
            <a:off x="1030735" y="6378571"/>
            <a:ext cx="6631577" cy="369332"/>
          </a:xfrm>
          <a:prstGeom prst="rect">
            <a:avLst/>
          </a:prstGeom>
          <a:noFill/>
        </p:spPr>
        <p:txBody>
          <a:bodyPr wrap="square">
            <a:spAutoFit/>
          </a:bodyPr>
          <a:lstStyle/>
          <a:p>
            <a:r>
              <a:rPr lang="en-US" altLang="ja-JP" dirty="0"/>
              <a:t>[1] https://huggingface.co/facebook/fasttext-ja-vectors</a:t>
            </a:r>
            <a:endParaRPr lang="ja-JP" altLang="en-US" dirty="0"/>
          </a:p>
        </p:txBody>
      </p:sp>
    </p:spTree>
    <p:extLst>
      <p:ext uri="{BB962C8B-B14F-4D97-AF65-F5344CB8AC3E}">
        <p14:creationId xmlns:p14="http://schemas.microsoft.com/office/powerpoint/2010/main" val="809723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5802A-45FC-1963-DD6F-91A9EEB753AF}"/>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EB493A5-9CEE-4DD4-022F-8892FFBC2D5D}"/>
              </a:ext>
            </a:extLst>
          </p:cNvPr>
          <p:cNvSpPr>
            <a:spLocks noGrp="1"/>
          </p:cNvSpPr>
          <p:nvPr>
            <p:ph type="sldNum" sz="quarter" idx="12"/>
          </p:nvPr>
        </p:nvSpPr>
        <p:spPr/>
        <p:txBody>
          <a:bodyPr/>
          <a:lstStyle/>
          <a:p>
            <a:fld id="{ED76A291-9732-4BB9-869D-FB236AA77CE3}" type="slidenum">
              <a:rPr lang="ja-JP" altLang="en-US" smtClean="0"/>
              <a:pPr/>
              <a:t>11</a:t>
            </a:fld>
            <a:endParaRPr lang="ja-JP" altLang="en-US" dirty="0"/>
          </a:p>
        </p:txBody>
      </p:sp>
      <p:sp>
        <p:nvSpPr>
          <p:cNvPr id="6" name="テキスト ボックス 5">
            <a:extLst>
              <a:ext uri="{FF2B5EF4-FFF2-40B4-BE49-F238E27FC236}">
                <a16:creationId xmlns:a16="http://schemas.microsoft.com/office/drawing/2014/main" id="{920C53A8-CB86-1127-7308-6AF78E1AF295}"/>
              </a:ext>
            </a:extLst>
          </p:cNvPr>
          <p:cNvSpPr txBox="1"/>
          <p:nvPr/>
        </p:nvSpPr>
        <p:spPr>
          <a:xfrm>
            <a:off x="180420" y="139047"/>
            <a:ext cx="7096279" cy="523220"/>
          </a:xfrm>
          <a:prstGeom prst="rect">
            <a:avLst/>
          </a:prstGeom>
          <a:noFill/>
        </p:spPr>
        <p:txBody>
          <a:bodyPr wrap="square" rtlCol="0">
            <a:spAutoFit/>
          </a:bodyPr>
          <a:lstStyle/>
          <a:p>
            <a:r>
              <a:rPr kumimoji="1" lang="ja-JP" altLang="en-US" sz="2800" dirty="0"/>
              <a:t>処理内容・手順  </a:t>
            </a:r>
            <a:r>
              <a:rPr kumimoji="1" lang="en-US" altLang="ja-JP" sz="2800" dirty="0"/>
              <a:t>(2-4)</a:t>
            </a:r>
            <a:r>
              <a:rPr kumimoji="1" lang="ja-JP" altLang="en-US" sz="2800" dirty="0"/>
              <a:t> 事前学習済みモデル</a:t>
            </a:r>
          </a:p>
        </p:txBody>
      </p:sp>
      <p:sp>
        <p:nvSpPr>
          <p:cNvPr id="3" name="テキスト ボックス 2">
            <a:extLst>
              <a:ext uri="{FF2B5EF4-FFF2-40B4-BE49-F238E27FC236}">
                <a16:creationId xmlns:a16="http://schemas.microsoft.com/office/drawing/2014/main" id="{FA2EB3BD-81B3-A055-9E89-B31B374E80F9}"/>
              </a:ext>
            </a:extLst>
          </p:cNvPr>
          <p:cNvSpPr txBox="1"/>
          <p:nvPr/>
        </p:nvSpPr>
        <p:spPr>
          <a:xfrm>
            <a:off x="396073" y="982176"/>
            <a:ext cx="8170411" cy="3046988"/>
          </a:xfrm>
          <a:prstGeom prst="rect">
            <a:avLst/>
          </a:prstGeom>
          <a:noFill/>
        </p:spPr>
        <p:txBody>
          <a:bodyPr wrap="square" rtlCol="0">
            <a:spAutoFit/>
          </a:bodyPr>
          <a:lstStyle/>
          <a:p>
            <a:pPr marL="457200" indent="-457200">
              <a:buFont typeface="Arial" panose="020B0604020202020204" pitchFamily="34" charset="0"/>
              <a:buChar char="•"/>
            </a:pPr>
            <a:r>
              <a:rPr lang="ja-JP" altLang="en-US" sz="2400" dirty="0"/>
              <a:t>有効化する前処理</a:t>
            </a:r>
            <a:endParaRPr lang="en-US" altLang="ja-JP" sz="2400" dirty="0"/>
          </a:p>
          <a:p>
            <a:pPr marL="914400" lvl="1" indent="-457200">
              <a:buSzPct val="75000"/>
              <a:buFont typeface="Arial" panose="020B0604020202020204" pitchFamily="34" charset="0"/>
              <a:buChar char="•"/>
            </a:pPr>
            <a:r>
              <a:rPr lang="ja-JP" altLang="en-US" sz="2400" dirty="0"/>
              <a:t>共通な前処理のみ</a:t>
            </a:r>
            <a:endParaRPr lang="en-US" altLang="ja-JP" sz="2400" dirty="0"/>
          </a:p>
          <a:p>
            <a:pPr marL="457200" indent="-457200">
              <a:buFont typeface="Arial" panose="020B0604020202020204" pitchFamily="34" charset="0"/>
              <a:buChar char="•"/>
            </a:pPr>
            <a:endParaRPr lang="en-US" altLang="ja-JP" sz="2400" dirty="0"/>
          </a:p>
          <a:p>
            <a:pPr marL="457200" indent="-457200">
              <a:buFont typeface="Arial" panose="020B0604020202020204" pitchFamily="34" charset="0"/>
              <a:buChar char="•"/>
            </a:pPr>
            <a:r>
              <a:rPr lang="ja-JP" altLang="en-US" sz="2400" dirty="0"/>
              <a:t>手順</a:t>
            </a:r>
            <a:endParaRPr lang="en-US" altLang="ja-JP" sz="2400" dirty="0"/>
          </a:p>
          <a:p>
            <a:pPr marL="914400" lvl="1" indent="-457200">
              <a:buFont typeface="+mj-lt"/>
              <a:buAutoNum type="arabicPeriod"/>
            </a:pPr>
            <a:r>
              <a:rPr lang="ja-JP" altLang="en-US" sz="2400" dirty="0"/>
              <a:t>日本語事前学習モデルの取得（</a:t>
            </a:r>
            <a:r>
              <a:rPr lang="en-US" altLang="ja-JP" sz="2400" dirty="0"/>
              <a:t>BERT</a:t>
            </a:r>
            <a:r>
              <a:rPr lang="ja-JP" altLang="en-US" sz="2400" dirty="0"/>
              <a:t>系を予定）</a:t>
            </a:r>
            <a:endParaRPr lang="en-US" altLang="ja-JP" sz="2400" dirty="0"/>
          </a:p>
          <a:p>
            <a:pPr marL="914400" lvl="1" indent="-457200">
              <a:buFont typeface="+mj-lt"/>
              <a:buAutoNum type="arabicPeriod"/>
            </a:pPr>
            <a:r>
              <a:rPr lang="ja-JP" altLang="en-US" sz="2400" dirty="0"/>
              <a:t>事前学習済みモデルに分類用の全結合層を追加</a:t>
            </a:r>
            <a:endParaRPr lang="en-US" altLang="ja-JP" sz="2400" dirty="0"/>
          </a:p>
          <a:p>
            <a:pPr marL="914400" lvl="1" indent="-457200">
              <a:buFont typeface="+mj-lt"/>
              <a:buAutoNum type="arabicPeriod"/>
            </a:pPr>
            <a:r>
              <a:rPr lang="ja-JP" altLang="en-US" sz="2400" dirty="0"/>
              <a:t>ファインチューニング</a:t>
            </a:r>
            <a:endParaRPr lang="en-US" altLang="ja-JP" sz="2400" dirty="0"/>
          </a:p>
          <a:p>
            <a:pPr marL="457200" indent="-457200">
              <a:buFont typeface="+mj-lt"/>
              <a:buAutoNum type="arabicPeriod"/>
            </a:pPr>
            <a:endParaRPr lang="en-US" altLang="ja-JP" sz="2400" dirty="0"/>
          </a:p>
        </p:txBody>
      </p:sp>
    </p:spTree>
    <p:extLst>
      <p:ext uri="{BB962C8B-B14F-4D97-AF65-F5344CB8AC3E}">
        <p14:creationId xmlns:p14="http://schemas.microsoft.com/office/powerpoint/2010/main" val="3286737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A5207-7A13-D08F-0EC3-F03C8EAD5203}"/>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F107A60-919E-C5EA-DB34-BDCCED1FB61D}"/>
              </a:ext>
            </a:extLst>
          </p:cNvPr>
          <p:cNvSpPr>
            <a:spLocks noGrp="1"/>
          </p:cNvSpPr>
          <p:nvPr>
            <p:ph type="sldNum" sz="quarter" idx="12"/>
          </p:nvPr>
        </p:nvSpPr>
        <p:spPr/>
        <p:txBody>
          <a:bodyPr/>
          <a:lstStyle/>
          <a:p>
            <a:fld id="{ED76A291-9732-4BB9-869D-FB236AA77CE3}" type="slidenum">
              <a:rPr lang="ja-JP" altLang="en-US" smtClean="0"/>
              <a:pPr/>
              <a:t>12</a:t>
            </a:fld>
            <a:endParaRPr lang="ja-JP" altLang="en-US" dirty="0"/>
          </a:p>
        </p:txBody>
      </p:sp>
      <p:sp>
        <p:nvSpPr>
          <p:cNvPr id="6" name="テキスト ボックス 5">
            <a:extLst>
              <a:ext uri="{FF2B5EF4-FFF2-40B4-BE49-F238E27FC236}">
                <a16:creationId xmlns:a16="http://schemas.microsoft.com/office/drawing/2014/main" id="{47DC0497-1B1D-B983-2574-F05D04378A62}"/>
              </a:ext>
            </a:extLst>
          </p:cNvPr>
          <p:cNvSpPr txBox="1"/>
          <p:nvPr/>
        </p:nvSpPr>
        <p:spPr>
          <a:xfrm>
            <a:off x="180420" y="139047"/>
            <a:ext cx="7096279" cy="523220"/>
          </a:xfrm>
          <a:prstGeom prst="rect">
            <a:avLst/>
          </a:prstGeom>
          <a:noFill/>
        </p:spPr>
        <p:txBody>
          <a:bodyPr wrap="square" rtlCol="0">
            <a:spAutoFit/>
          </a:bodyPr>
          <a:lstStyle/>
          <a:p>
            <a:r>
              <a:rPr kumimoji="1" lang="ja-JP" altLang="en-US" sz="2800" dirty="0"/>
              <a:t>処理内容・手順  </a:t>
            </a:r>
            <a:r>
              <a:rPr kumimoji="1" lang="en-US" altLang="ja-JP" sz="2800" dirty="0"/>
              <a:t>(3)</a:t>
            </a:r>
            <a:r>
              <a:rPr kumimoji="1" lang="ja-JP" altLang="en-US" sz="2800" dirty="0"/>
              <a:t> 比較実験</a:t>
            </a:r>
          </a:p>
        </p:txBody>
      </p:sp>
      <p:sp>
        <p:nvSpPr>
          <p:cNvPr id="3" name="テキスト ボックス 2">
            <a:extLst>
              <a:ext uri="{FF2B5EF4-FFF2-40B4-BE49-F238E27FC236}">
                <a16:creationId xmlns:a16="http://schemas.microsoft.com/office/drawing/2014/main" id="{D32B74C3-4E52-0384-4D35-3934D90C335C}"/>
              </a:ext>
            </a:extLst>
          </p:cNvPr>
          <p:cNvSpPr txBox="1"/>
          <p:nvPr/>
        </p:nvSpPr>
        <p:spPr>
          <a:xfrm>
            <a:off x="396073" y="982176"/>
            <a:ext cx="8499204" cy="4154984"/>
          </a:xfrm>
          <a:prstGeom prst="rect">
            <a:avLst/>
          </a:prstGeom>
          <a:noFill/>
        </p:spPr>
        <p:txBody>
          <a:bodyPr wrap="square" rtlCol="0">
            <a:spAutoFit/>
          </a:bodyPr>
          <a:lstStyle/>
          <a:p>
            <a:pPr marL="457200" indent="-457200">
              <a:buFont typeface="+mj-lt"/>
              <a:buAutoNum type="arabicPeriod"/>
            </a:pPr>
            <a:r>
              <a:rPr lang="ja-JP" altLang="en-US" sz="2400" dirty="0"/>
              <a:t>学習データ量ごとの比較</a:t>
            </a:r>
            <a:endParaRPr lang="en-US" altLang="ja-JP" sz="2400" dirty="0"/>
          </a:p>
          <a:p>
            <a:pPr marL="914400" lvl="1" indent="-457200">
              <a:buFont typeface="Arial" panose="020B0604020202020204" pitchFamily="34" charset="0"/>
              <a:buChar char="•"/>
            </a:pPr>
            <a:r>
              <a:rPr lang="en-US" altLang="ja-JP" sz="2400" dirty="0"/>
              <a:t>7367</a:t>
            </a:r>
            <a:r>
              <a:rPr lang="ja-JP" altLang="en-US" sz="2400" dirty="0"/>
              <a:t>件</a:t>
            </a:r>
            <a:r>
              <a:rPr lang="en-US" altLang="ja-JP" sz="2400" dirty="0"/>
              <a:t>(</a:t>
            </a:r>
            <a:r>
              <a:rPr lang="ja-JP" altLang="en-US" sz="2400" dirty="0"/>
              <a:t>全データ</a:t>
            </a:r>
            <a:r>
              <a:rPr lang="en-US" altLang="ja-JP" sz="2400" dirty="0"/>
              <a:t>)/5000</a:t>
            </a:r>
            <a:r>
              <a:rPr lang="ja-JP" altLang="en-US" sz="2400" dirty="0"/>
              <a:t>件</a:t>
            </a:r>
            <a:r>
              <a:rPr lang="en-US" altLang="ja-JP" sz="2400" dirty="0"/>
              <a:t>/1000</a:t>
            </a:r>
            <a:r>
              <a:rPr lang="ja-JP" altLang="en-US" sz="2400" dirty="0"/>
              <a:t>件</a:t>
            </a:r>
            <a:r>
              <a:rPr lang="en-US" altLang="ja-JP" sz="2400" dirty="0"/>
              <a:t>/500</a:t>
            </a:r>
            <a:r>
              <a:rPr lang="ja-JP" altLang="en-US" sz="2400" dirty="0"/>
              <a:t>件</a:t>
            </a:r>
            <a:r>
              <a:rPr lang="en-US" altLang="ja-JP" sz="2400" dirty="0"/>
              <a:t>/100</a:t>
            </a:r>
            <a:r>
              <a:rPr lang="ja-JP" altLang="en-US" sz="2400" dirty="0"/>
              <a:t>件で比較</a:t>
            </a:r>
            <a:endParaRPr lang="en-US" altLang="ja-JP" sz="2400" dirty="0"/>
          </a:p>
          <a:p>
            <a:pPr marL="914400" lvl="1" indent="-457200">
              <a:buFont typeface="Arial" panose="020B0604020202020204" pitchFamily="34" charset="0"/>
              <a:buChar char="•"/>
            </a:pPr>
            <a:r>
              <a:rPr lang="ja-JP" altLang="en-US" sz="2400" dirty="0"/>
              <a:t>各カテゴリのバランスを保つように抽出</a:t>
            </a:r>
            <a:endParaRPr lang="en-US" altLang="ja-JP" sz="2400" dirty="0"/>
          </a:p>
          <a:p>
            <a:pPr marL="457200" indent="-457200">
              <a:buFont typeface="+mj-lt"/>
              <a:buAutoNum type="arabicPeriod"/>
            </a:pPr>
            <a:endParaRPr lang="en-US" altLang="ja-JP" sz="2400" dirty="0"/>
          </a:p>
          <a:p>
            <a:pPr marL="457200" indent="-457200">
              <a:buFont typeface="+mj-lt"/>
              <a:buAutoNum type="arabicPeriod"/>
            </a:pPr>
            <a:r>
              <a:rPr lang="ja-JP" altLang="en-US" sz="2400" dirty="0"/>
              <a:t>不均衡データの比較</a:t>
            </a:r>
            <a:endParaRPr lang="en-US" altLang="ja-JP" sz="2400" dirty="0"/>
          </a:p>
          <a:p>
            <a:pPr marL="914400" lvl="1" indent="-457200">
              <a:buFont typeface="Arial" panose="020B0604020202020204" pitchFamily="34" charset="0"/>
              <a:buChar char="•"/>
            </a:pPr>
            <a:r>
              <a:rPr lang="ja-JP" altLang="en-US" sz="2400" dirty="0"/>
              <a:t>全カテゴリのデータ量が均一なケース</a:t>
            </a:r>
            <a:endParaRPr lang="en-US" altLang="ja-JP" sz="2400" dirty="0"/>
          </a:p>
          <a:p>
            <a:pPr marL="914400" lvl="1" indent="-457200">
              <a:buFont typeface="Arial" panose="020B0604020202020204" pitchFamily="34" charset="0"/>
              <a:buChar char="•"/>
            </a:pPr>
            <a:r>
              <a:rPr lang="en-US" altLang="ja-JP" sz="2400" dirty="0"/>
              <a:t>1</a:t>
            </a:r>
            <a:r>
              <a:rPr lang="ja-JP" altLang="en-US" sz="2400" dirty="0"/>
              <a:t>カテゴリのみ少ないケース</a:t>
            </a:r>
            <a:endParaRPr lang="en-US" altLang="ja-JP" sz="2400" dirty="0"/>
          </a:p>
          <a:p>
            <a:pPr marL="914400" lvl="1" indent="-457200">
              <a:buFont typeface="Arial" panose="020B0604020202020204" pitchFamily="34" charset="0"/>
              <a:buChar char="•"/>
            </a:pPr>
            <a:r>
              <a:rPr lang="en-US" altLang="ja-JP" sz="2400" dirty="0"/>
              <a:t>1</a:t>
            </a:r>
            <a:r>
              <a:rPr lang="ja-JP" altLang="en-US" sz="2400" dirty="0"/>
              <a:t>カテゴリのみ多いケース</a:t>
            </a:r>
            <a:endParaRPr lang="en-US" altLang="ja-JP" sz="2400" dirty="0"/>
          </a:p>
          <a:p>
            <a:pPr marL="1371600" lvl="2" indent="-457200">
              <a:buFont typeface="Arial" panose="020B0604020202020204" pitchFamily="34" charset="0"/>
              <a:buChar char="•"/>
            </a:pPr>
            <a:endParaRPr lang="en-US" altLang="ja-JP" sz="2400" dirty="0"/>
          </a:p>
          <a:p>
            <a:pPr marL="914400" lvl="1" indent="-457200">
              <a:buFont typeface="Arial" panose="020B0604020202020204" pitchFamily="34" charset="0"/>
              <a:buChar char="•"/>
            </a:pPr>
            <a:endParaRPr lang="en-US" altLang="ja-JP" sz="2400" dirty="0"/>
          </a:p>
          <a:p>
            <a:pPr marL="914400" lvl="1" indent="-457200">
              <a:buFont typeface="Arial" panose="020B0604020202020204" pitchFamily="34" charset="0"/>
              <a:buChar char="•"/>
            </a:pPr>
            <a:endParaRPr lang="en-US" altLang="ja-JP" sz="2400" dirty="0"/>
          </a:p>
        </p:txBody>
      </p:sp>
    </p:spTree>
    <p:extLst>
      <p:ext uri="{BB962C8B-B14F-4D97-AF65-F5344CB8AC3E}">
        <p14:creationId xmlns:p14="http://schemas.microsoft.com/office/powerpoint/2010/main" val="8112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1CD0D-0FD8-469A-153B-63A4CB1D1C63}"/>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6262E12-EF1A-FF7F-674B-B725DBE7881D}"/>
              </a:ext>
            </a:extLst>
          </p:cNvPr>
          <p:cNvSpPr>
            <a:spLocks noGrp="1"/>
          </p:cNvSpPr>
          <p:nvPr>
            <p:ph type="sldNum" sz="quarter" idx="12"/>
          </p:nvPr>
        </p:nvSpPr>
        <p:spPr/>
        <p:txBody>
          <a:bodyPr/>
          <a:lstStyle/>
          <a:p>
            <a:fld id="{ED76A291-9732-4BB9-869D-FB236AA77CE3}" type="slidenum">
              <a:rPr lang="ja-JP" altLang="en-US" smtClean="0"/>
              <a:pPr/>
              <a:t>13</a:t>
            </a:fld>
            <a:endParaRPr lang="ja-JP" altLang="en-US" dirty="0"/>
          </a:p>
        </p:txBody>
      </p:sp>
      <p:sp>
        <p:nvSpPr>
          <p:cNvPr id="6" name="テキスト ボックス 5">
            <a:extLst>
              <a:ext uri="{FF2B5EF4-FFF2-40B4-BE49-F238E27FC236}">
                <a16:creationId xmlns:a16="http://schemas.microsoft.com/office/drawing/2014/main" id="{AE74A37F-8DAF-D370-3095-64D32C79E15B}"/>
              </a:ext>
            </a:extLst>
          </p:cNvPr>
          <p:cNvSpPr txBox="1"/>
          <p:nvPr/>
        </p:nvSpPr>
        <p:spPr>
          <a:xfrm>
            <a:off x="180420" y="139047"/>
            <a:ext cx="7096279" cy="523220"/>
          </a:xfrm>
          <a:prstGeom prst="rect">
            <a:avLst/>
          </a:prstGeom>
          <a:noFill/>
        </p:spPr>
        <p:txBody>
          <a:bodyPr wrap="square" rtlCol="0">
            <a:spAutoFit/>
          </a:bodyPr>
          <a:lstStyle/>
          <a:p>
            <a:r>
              <a:rPr kumimoji="1" lang="ja-JP" altLang="en-US" sz="2800" dirty="0"/>
              <a:t>評価方法</a:t>
            </a:r>
          </a:p>
        </p:txBody>
      </p:sp>
      <p:sp>
        <p:nvSpPr>
          <p:cNvPr id="3" name="テキスト ボックス 2">
            <a:extLst>
              <a:ext uri="{FF2B5EF4-FFF2-40B4-BE49-F238E27FC236}">
                <a16:creationId xmlns:a16="http://schemas.microsoft.com/office/drawing/2014/main" id="{F1E654F6-FCC0-733C-4357-8EF76C73A68E}"/>
              </a:ext>
            </a:extLst>
          </p:cNvPr>
          <p:cNvSpPr txBox="1"/>
          <p:nvPr/>
        </p:nvSpPr>
        <p:spPr>
          <a:xfrm>
            <a:off x="396073" y="982176"/>
            <a:ext cx="8170411" cy="4524315"/>
          </a:xfrm>
          <a:prstGeom prst="rect">
            <a:avLst/>
          </a:prstGeom>
          <a:noFill/>
        </p:spPr>
        <p:txBody>
          <a:bodyPr wrap="square" rtlCol="0">
            <a:spAutoFit/>
          </a:bodyPr>
          <a:lstStyle/>
          <a:p>
            <a:pPr marL="457200" indent="-457200">
              <a:buFont typeface="Arial" panose="020B0604020202020204" pitchFamily="34" charset="0"/>
              <a:buChar char="•"/>
            </a:pPr>
            <a:r>
              <a:rPr lang="ja-JP" altLang="en-US" sz="2400" dirty="0"/>
              <a:t>性能</a:t>
            </a:r>
            <a:endParaRPr lang="en-US" altLang="ja-JP" sz="2400" dirty="0"/>
          </a:p>
          <a:p>
            <a:pPr marL="914400" lvl="1" indent="-457200">
              <a:buFont typeface="Arial" panose="020B0604020202020204" pitchFamily="34" charset="0"/>
              <a:buChar char="•"/>
            </a:pPr>
            <a:r>
              <a:rPr lang="en-US" altLang="ja-JP" sz="2400" dirty="0"/>
              <a:t>Accuracy</a:t>
            </a:r>
          </a:p>
          <a:p>
            <a:pPr marL="914400" lvl="1" indent="-457200">
              <a:buFont typeface="Arial" panose="020B0604020202020204" pitchFamily="34" charset="0"/>
              <a:buChar char="•"/>
            </a:pPr>
            <a:r>
              <a:rPr lang="en-US" altLang="ja-JP" sz="2400" dirty="0"/>
              <a:t>F1, Recall, Precision</a:t>
            </a:r>
          </a:p>
          <a:p>
            <a:pPr lvl="1"/>
            <a:endParaRPr lang="en-US" altLang="ja-JP" sz="2400" dirty="0"/>
          </a:p>
          <a:p>
            <a:pPr marL="457200" indent="-457200">
              <a:buFont typeface="Arial" panose="020B0604020202020204" pitchFamily="34" charset="0"/>
              <a:buChar char="•"/>
            </a:pPr>
            <a:r>
              <a:rPr lang="ja-JP" altLang="en-US" sz="2400" dirty="0"/>
              <a:t>学習効率</a:t>
            </a:r>
            <a:endParaRPr lang="en-US" altLang="ja-JP" sz="2400" dirty="0"/>
          </a:p>
          <a:p>
            <a:pPr marL="914400" lvl="1" indent="-457200">
              <a:buFont typeface="Arial" panose="020B0604020202020204" pitchFamily="34" charset="0"/>
              <a:buChar char="•"/>
            </a:pPr>
            <a:r>
              <a:rPr lang="ja-JP" altLang="en-US" sz="2400" dirty="0"/>
              <a:t>学習曲線</a:t>
            </a:r>
            <a:endParaRPr lang="en-US" altLang="ja-JP" sz="2400" dirty="0"/>
          </a:p>
          <a:p>
            <a:pPr marL="914400" lvl="1" indent="-457200">
              <a:buFont typeface="Arial" panose="020B0604020202020204" pitchFamily="34" charset="0"/>
              <a:buChar char="•"/>
            </a:pPr>
            <a:r>
              <a:rPr lang="ja-JP" altLang="en-US" sz="2400" dirty="0"/>
              <a:t>収束速度</a:t>
            </a:r>
            <a:endParaRPr lang="en-US" altLang="ja-JP" sz="2400" dirty="0"/>
          </a:p>
          <a:p>
            <a:pPr lvl="1"/>
            <a:endParaRPr lang="en-US" altLang="ja-JP" sz="2400" dirty="0"/>
          </a:p>
          <a:p>
            <a:pPr marL="457200" indent="-457200">
              <a:buFont typeface="Arial" panose="020B0604020202020204" pitchFamily="34" charset="0"/>
              <a:buChar char="•"/>
            </a:pPr>
            <a:r>
              <a:rPr lang="ja-JP" altLang="en-US" sz="2400" dirty="0"/>
              <a:t>計算コスト</a:t>
            </a:r>
            <a:endParaRPr lang="en-US" altLang="ja-JP" sz="2400" dirty="0"/>
          </a:p>
          <a:p>
            <a:pPr marL="914400" lvl="1" indent="-457200">
              <a:buFont typeface="Arial" panose="020B0604020202020204" pitchFamily="34" charset="0"/>
              <a:buChar char="•"/>
            </a:pPr>
            <a:r>
              <a:rPr lang="ja-JP" altLang="en-US" sz="2400" dirty="0"/>
              <a:t>学習時間（</a:t>
            </a:r>
            <a:r>
              <a:rPr lang="en-US" altLang="ja-JP" sz="2400" dirty="0"/>
              <a:t>1epoch</a:t>
            </a:r>
            <a:r>
              <a:rPr lang="ja-JP" altLang="en-US" sz="2400" dirty="0"/>
              <a:t>あたりと全学習あたり）</a:t>
            </a:r>
            <a:endParaRPr lang="en-US" altLang="ja-JP" sz="2400" dirty="0"/>
          </a:p>
          <a:p>
            <a:pPr marL="914400" lvl="1" indent="-457200">
              <a:buFont typeface="Arial" panose="020B0604020202020204" pitchFamily="34" charset="0"/>
              <a:buChar char="•"/>
            </a:pPr>
            <a:r>
              <a:rPr lang="ja-JP" altLang="en-US" sz="2400" dirty="0"/>
              <a:t>推論速度</a:t>
            </a:r>
            <a:endParaRPr lang="en-US" altLang="ja-JP" sz="2400" dirty="0"/>
          </a:p>
          <a:p>
            <a:pPr marL="914400" lvl="1" indent="-457200">
              <a:buFont typeface="Arial" panose="020B0604020202020204" pitchFamily="34" charset="0"/>
              <a:buChar char="•"/>
            </a:pPr>
            <a:r>
              <a:rPr lang="en-US" altLang="ja-JP" sz="2400" dirty="0"/>
              <a:t>VRAM</a:t>
            </a:r>
            <a:r>
              <a:rPr lang="ja-JP" altLang="en-US" sz="2400"/>
              <a:t>使用量</a:t>
            </a:r>
            <a:endParaRPr lang="en-US" altLang="ja-JP" sz="2400" dirty="0"/>
          </a:p>
        </p:txBody>
      </p:sp>
    </p:spTree>
    <p:extLst>
      <p:ext uri="{BB962C8B-B14F-4D97-AF65-F5344CB8AC3E}">
        <p14:creationId xmlns:p14="http://schemas.microsoft.com/office/powerpoint/2010/main" val="1812909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7195E-DFFE-A498-22DD-B11801A21319}"/>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B011871D-2F8D-FB91-0390-0DB1433BE0A4}"/>
              </a:ext>
            </a:extLst>
          </p:cNvPr>
          <p:cNvSpPr>
            <a:spLocks noGrp="1"/>
          </p:cNvSpPr>
          <p:nvPr>
            <p:ph type="sldNum" sz="quarter" idx="12"/>
          </p:nvPr>
        </p:nvSpPr>
        <p:spPr/>
        <p:txBody>
          <a:bodyPr/>
          <a:lstStyle/>
          <a:p>
            <a:fld id="{ED76A291-9732-4BB9-869D-FB236AA77CE3}" type="slidenum">
              <a:rPr lang="ja-JP" altLang="en-US" smtClean="0"/>
              <a:pPr/>
              <a:t>14</a:t>
            </a:fld>
            <a:endParaRPr lang="ja-JP" altLang="en-US" dirty="0"/>
          </a:p>
        </p:txBody>
      </p:sp>
      <p:sp>
        <p:nvSpPr>
          <p:cNvPr id="6" name="テキスト ボックス 5">
            <a:extLst>
              <a:ext uri="{FF2B5EF4-FFF2-40B4-BE49-F238E27FC236}">
                <a16:creationId xmlns:a16="http://schemas.microsoft.com/office/drawing/2014/main" id="{908AAD76-40CC-B4FA-8222-10E62DBAD37B}"/>
              </a:ext>
            </a:extLst>
          </p:cNvPr>
          <p:cNvSpPr txBox="1"/>
          <p:nvPr/>
        </p:nvSpPr>
        <p:spPr>
          <a:xfrm>
            <a:off x="180420" y="139047"/>
            <a:ext cx="7096279" cy="523220"/>
          </a:xfrm>
          <a:prstGeom prst="rect">
            <a:avLst/>
          </a:prstGeom>
          <a:noFill/>
        </p:spPr>
        <p:txBody>
          <a:bodyPr wrap="square" rtlCol="0">
            <a:spAutoFit/>
          </a:bodyPr>
          <a:lstStyle/>
          <a:p>
            <a:r>
              <a:rPr lang="ja-JP" altLang="en-US" sz="2800" dirty="0"/>
              <a:t>分担</a:t>
            </a:r>
            <a:endParaRPr kumimoji="1" lang="ja-JP" altLang="en-US" sz="2800" dirty="0"/>
          </a:p>
        </p:txBody>
      </p:sp>
      <p:graphicFrame>
        <p:nvGraphicFramePr>
          <p:cNvPr id="10" name="表 9">
            <a:extLst>
              <a:ext uri="{FF2B5EF4-FFF2-40B4-BE49-F238E27FC236}">
                <a16:creationId xmlns:a16="http://schemas.microsoft.com/office/drawing/2014/main" id="{F2EE17A6-4C69-FBD8-280A-4484A95B9C04}"/>
              </a:ext>
            </a:extLst>
          </p:cNvPr>
          <p:cNvGraphicFramePr>
            <a:graphicFrameLocks noGrp="1"/>
          </p:cNvGraphicFramePr>
          <p:nvPr>
            <p:extLst>
              <p:ext uri="{D42A27DB-BD31-4B8C-83A1-F6EECF244321}">
                <p14:modId xmlns:p14="http://schemas.microsoft.com/office/powerpoint/2010/main" val="4141327546"/>
              </p:ext>
            </p:extLst>
          </p:nvPr>
        </p:nvGraphicFramePr>
        <p:xfrm>
          <a:off x="1524000" y="1201791"/>
          <a:ext cx="6096000" cy="3200400"/>
        </p:xfrm>
        <a:graphic>
          <a:graphicData uri="http://schemas.openxmlformats.org/drawingml/2006/table">
            <a:tbl>
              <a:tblPr firstRow="1" bandRow="1">
                <a:tableStyleId>{5C22544A-7EE6-4342-B048-85BDC9FD1C3A}</a:tableStyleId>
              </a:tblPr>
              <a:tblGrid>
                <a:gridCol w="797960">
                  <a:extLst>
                    <a:ext uri="{9D8B030D-6E8A-4147-A177-3AD203B41FA5}">
                      <a16:colId xmlns:a16="http://schemas.microsoft.com/office/drawing/2014/main" val="604973326"/>
                    </a:ext>
                  </a:extLst>
                </a:gridCol>
                <a:gridCol w="3637051">
                  <a:extLst>
                    <a:ext uri="{9D8B030D-6E8A-4147-A177-3AD203B41FA5}">
                      <a16:colId xmlns:a16="http://schemas.microsoft.com/office/drawing/2014/main" val="1568392396"/>
                    </a:ext>
                  </a:extLst>
                </a:gridCol>
                <a:gridCol w="1660989">
                  <a:extLst>
                    <a:ext uri="{9D8B030D-6E8A-4147-A177-3AD203B41FA5}">
                      <a16:colId xmlns:a16="http://schemas.microsoft.com/office/drawing/2014/main" val="28558444"/>
                    </a:ext>
                  </a:extLst>
                </a:gridCol>
              </a:tblGrid>
              <a:tr h="370840">
                <a:tc>
                  <a:txBody>
                    <a:bodyPr/>
                    <a:lstStyle/>
                    <a:p>
                      <a:r>
                        <a:rPr kumimoji="1" lang="ja-JP" altLang="en-US" sz="2400" dirty="0"/>
                        <a:t>番号</a:t>
                      </a:r>
                    </a:p>
                  </a:txBody>
                  <a:tcPr/>
                </a:tc>
                <a:tc>
                  <a:txBody>
                    <a:bodyPr/>
                    <a:lstStyle/>
                    <a:p>
                      <a:r>
                        <a:rPr kumimoji="1" lang="ja-JP" altLang="en-US" sz="2400" dirty="0"/>
                        <a:t>内容</a:t>
                      </a:r>
                    </a:p>
                  </a:txBody>
                  <a:tcPr/>
                </a:tc>
                <a:tc>
                  <a:txBody>
                    <a:bodyPr/>
                    <a:lstStyle/>
                    <a:p>
                      <a:r>
                        <a:rPr kumimoji="1" lang="ja-JP" altLang="en-US" sz="2400" dirty="0"/>
                        <a:t>担当者</a:t>
                      </a:r>
                    </a:p>
                  </a:txBody>
                  <a:tcPr/>
                </a:tc>
                <a:extLst>
                  <a:ext uri="{0D108BD9-81ED-4DB2-BD59-A6C34878D82A}">
                    <a16:rowId xmlns:a16="http://schemas.microsoft.com/office/drawing/2014/main" val="2849666668"/>
                  </a:ext>
                </a:extLst>
              </a:tr>
              <a:tr h="370840">
                <a:tc>
                  <a:txBody>
                    <a:bodyPr/>
                    <a:lstStyle/>
                    <a:p>
                      <a:pPr algn="ctr"/>
                      <a:r>
                        <a:rPr kumimoji="1" lang="en-US" altLang="ja-JP" sz="2400" dirty="0"/>
                        <a:t>(1)</a:t>
                      </a:r>
                      <a:endParaRPr kumimoji="1" lang="ja-JP" altLang="en-US" sz="2400" dirty="0"/>
                    </a:p>
                  </a:txBody>
                  <a:tcPr/>
                </a:tc>
                <a:tc>
                  <a:txBody>
                    <a:bodyPr/>
                    <a:lstStyle/>
                    <a:p>
                      <a:r>
                        <a:rPr kumimoji="1" lang="ja-JP" altLang="en-US" sz="2400" dirty="0"/>
                        <a:t>前処理</a:t>
                      </a:r>
                    </a:p>
                  </a:txBody>
                  <a:tcPr/>
                </a:tc>
                <a:tc>
                  <a:txBody>
                    <a:bodyPr/>
                    <a:lstStyle/>
                    <a:p>
                      <a:r>
                        <a:rPr kumimoji="1" lang="ja-JP" altLang="en-US" sz="2400" dirty="0"/>
                        <a:t>小島</a:t>
                      </a:r>
                    </a:p>
                  </a:txBody>
                  <a:tcPr/>
                </a:tc>
                <a:extLst>
                  <a:ext uri="{0D108BD9-81ED-4DB2-BD59-A6C34878D82A}">
                    <a16:rowId xmlns:a16="http://schemas.microsoft.com/office/drawing/2014/main" val="4133387959"/>
                  </a:ext>
                </a:extLst>
              </a:tr>
              <a:tr h="370840">
                <a:tc>
                  <a:txBody>
                    <a:bodyPr/>
                    <a:lstStyle/>
                    <a:p>
                      <a:pPr algn="ctr"/>
                      <a:r>
                        <a:rPr kumimoji="1" lang="en-US" altLang="ja-JP" sz="2400" dirty="0"/>
                        <a:t>(2-1)</a:t>
                      </a:r>
                      <a:endParaRPr kumimoji="1" lang="ja-JP" altLang="en-US" sz="2400" dirty="0"/>
                    </a:p>
                  </a:txBody>
                  <a:tcPr/>
                </a:tc>
                <a:tc>
                  <a:txBody>
                    <a:bodyPr/>
                    <a:lstStyle/>
                    <a:p>
                      <a:r>
                        <a:rPr kumimoji="1" lang="ja-JP" altLang="en-US" sz="2400" dirty="0"/>
                        <a:t>ナイーブベイズ</a:t>
                      </a:r>
                    </a:p>
                  </a:txBody>
                  <a:tcPr/>
                </a:tc>
                <a:tc>
                  <a:txBody>
                    <a:bodyPr/>
                    <a:lstStyle/>
                    <a:p>
                      <a:r>
                        <a:rPr kumimoji="1" lang="ja-JP" altLang="en-US" sz="2400" dirty="0"/>
                        <a:t>江利川</a:t>
                      </a:r>
                    </a:p>
                  </a:txBody>
                  <a:tcPr/>
                </a:tc>
                <a:extLst>
                  <a:ext uri="{0D108BD9-81ED-4DB2-BD59-A6C34878D82A}">
                    <a16:rowId xmlns:a16="http://schemas.microsoft.com/office/drawing/2014/main" val="2153466241"/>
                  </a:ext>
                </a:extLst>
              </a:tr>
              <a:tr h="370840">
                <a:tc>
                  <a:txBody>
                    <a:bodyPr/>
                    <a:lstStyle/>
                    <a:p>
                      <a:pPr algn="ctr"/>
                      <a:r>
                        <a:rPr kumimoji="1" lang="en-US" altLang="ja-JP" sz="2400" dirty="0"/>
                        <a:t>(2-2)</a:t>
                      </a:r>
                      <a:endParaRPr kumimoji="1" lang="ja-JP" altLang="en-US" sz="2400" dirty="0"/>
                    </a:p>
                  </a:txBody>
                  <a:tcPr/>
                </a:tc>
                <a:tc>
                  <a:txBody>
                    <a:bodyPr/>
                    <a:lstStyle/>
                    <a:p>
                      <a:r>
                        <a:rPr kumimoji="1" lang="en-US" altLang="ja-JP" sz="2400" dirty="0"/>
                        <a:t>LSTM</a:t>
                      </a:r>
                      <a:endParaRPr kumimoji="1" lang="ja-JP" altLang="en-US" sz="2400" dirty="0"/>
                    </a:p>
                  </a:txBody>
                  <a:tcPr/>
                </a:tc>
                <a:tc>
                  <a:txBody>
                    <a:bodyPr/>
                    <a:lstStyle/>
                    <a:p>
                      <a:r>
                        <a:rPr kumimoji="1" lang="ja-JP" altLang="en-US" sz="2400" dirty="0"/>
                        <a:t>矢倉</a:t>
                      </a:r>
                    </a:p>
                  </a:txBody>
                  <a:tcPr/>
                </a:tc>
                <a:extLst>
                  <a:ext uri="{0D108BD9-81ED-4DB2-BD59-A6C34878D82A}">
                    <a16:rowId xmlns:a16="http://schemas.microsoft.com/office/drawing/2014/main" val="188785628"/>
                  </a:ext>
                </a:extLst>
              </a:tr>
              <a:tr h="370840">
                <a:tc>
                  <a:txBody>
                    <a:bodyPr/>
                    <a:lstStyle/>
                    <a:p>
                      <a:pPr algn="ctr"/>
                      <a:r>
                        <a:rPr kumimoji="1" lang="en-US" altLang="ja-JP" sz="2400" dirty="0"/>
                        <a:t>(2-3)</a:t>
                      </a:r>
                      <a:endParaRPr kumimoji="1" lang="ja-JP" altLang="en-US" sz="2400" dirty="0"/>
                    </a:p>
                  </a:txBody>
                  <a:tcPr/>
                </a:tc>
                <a:tc>
                  <a:txBody>
                    <a:bodyPr/>
                    <a:lstStyle/>
                    <a:p>
                      <a:r>
                        <a:rPr kumimoji="1" lang="en-US" altLang="ja-JP" sz="2400" dirty="0"/>
                        <a:t>Transformer</a:t>
                      </a:r>
                      <a:endParaRPr kumimoji="1" lang="ja-JP" altLang="en-US" sz="2400" dirty="0"/>
                    </a:p>
                  </a:txBody>
                  <a:tcPr/>
                </a:tc>
                <a:tc>
                  <a:txBody>
                    <a:bodyPr/>
                    <a:lstStyle/>
                    <a:p>
                      <a:r>
                        <a:rPr kumimoji="1" lang="ja-JP" altLang="en-US" sz="2400" dirty="0"/>
                        <a:t>渡邊</a:t>
                      </a:r>
                    </a:p>
                  </a:txBody>
                  <a:tcPr/>
                </a:tc>
                <a:extLst>
                  <a:ext uri="{0D108BD9-81ED-4DB2-BD59-A6C34878D82A}">
                    <a16:rowId xmlns:a16="http://schemas.microsoft.com/office/drawing/2014/main" val="1210649921"/>
                  </a:ext>
                </a:extLst>
              </a:tr>
              <a:tr h="370840">
                <a:tc>
                  <a:txBody>
                    <a:bodyPr/>
                    <a:lstStyle/>
                    <a:p>
                      <a:pPr algn="ctr"/>
                      <a:r>
                        <a:rPr kumimoji="1" lang="en-US" altLang="ja-JP" sz="2400" dirty="0"/>
                        <a:t>(2-4)</a:t>
                      </a:r>
                      <a:endParaRPr kumimoji="1" lang="ja-JP" altLang="en-US" sz="2400" dirty="0"/>
                    </a:p>
                  </a:txBody>
                  <a:tcPr/>
                </a:tc>
                <a:tc>
                  <a:txBody>
                    <a:bodyPr/>
                    <a:lstStyle/>
                    <a:p>
                      <a:r>
                        <a:rPr kumimoji="1" lang="ja-JP" altLang="en-US" sz="2400" dirty="0"/>
                        <a:t>事前学習済みモデル</a:t>
                      </a:r>
                    </a:p>
                  </a:txBody>
                  <a:tcPr/>
                </a:tc>
                <a:tc>
                  <a:txBody>
                    <a:bodyPr/>
                    <a:lstStyle/>
                    <a:p>
                      <a:r>
                        <a:rPr kumimoji="1" lang="ja-JP" altLang="en-US" sz="2400" dirty="0"/>
                        <a:t>相内</a:t>
                      </a:r>
                    </a:p>
                  </a:txBody>
                  <a:tcPr/>
                </a:tc>
                <a:extLst>
                  <a:ext uri="{0D108BD9-81ED-4DB2-BD59-A6C34878D82A}">
                    <a16:rowId xmlns:a16="http://schemas.microsoft.com/office/drawing/2014/main" val="3297472509"/>
                  </a:ext>
                </a:extLst>
              </a:tr>
              <a:tr h="370840">
                <a:tc>
                  <a:txBody>
                    <a:bodyPr/>
                    <a:lstStyle/>
                    <a:p>
                      <a:pPr algn="ctr"/>
                      <a:r>
                        <a:rPr kumimoji="1" lang="en-US" altLang="ja-JP" sz="2400" dirty="0"/>
                        <a:t>(3)</a:t>
                      </a:r>
                      <a:endParaRPr kumimoji="1" lang="ja-JP" altLang="en-US" sz="2400" dirty="0"/>
                    </a:p>
                  </a:txBody>
                  <a:tcPr/>
                </a:tc>
                <a:tc>
                  <a:txBody>
                    <a:bodyPr/>
                    <a:lstStyle/>
                    <a:p>
                      <a:r>
                        <a:rPr kumimoji="1" lang="ja-JP" altLang="en-US" sz="2400" dirty="0"/>
                        <a:t>比較実験，評価</a:t>
                      </a:r>
                    </a:p>
                  </a:txBody>
                  <a:tcPr/>
                </a:tc>
                <a:tc>
                  <a:txBody>
                    <a:bodyPr/>
                    <a:lstStyle/>
                    <a:p>
                      <a:r>
                        <a:rPr kumimoji="1" lang="ja-JP" altLang="en-US" sz="2400" dirty="0"/>
                        <a:t>小島</a:t>
                      </a:r>
                    </a:p>
                  </a:txBody>
                  <a:tcPr/>
                </a:tc>
                <a:extLst>
                  <a:ext uri="{0D108BD9-81ED-4DB2-BD59-A6C34878D82A}">
                    <a16:rowId xmlns:a16="http://schemas.microsoft.com/office/drawing/2014/main" val="3550918871"/>
                  </a:ext>
                </a:extLst>
              </a:tr>
            </a:tbl>
          </a:graphicData>
        </a:graphic>
      </p:graphicFrame>
    </p:spTree>
    <p:extLst>
      <p:ext uri="{BB962C8B-B14F-4D97-AF65-F5344CB8AC3E}">
        <p14:creationId xmlns:p14="http://schemas.microsoft.com/office/powerpoint/2010/main" val="148609215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1883</TotalTime>
  <Words>1028</Words>
  <Application>Microsoft Office PowerPoint</Application>
  <PresentationFormat>画面に合わせる (4:3)</PresentationFormat>
  <Paragraphs>175</Paragraphs>
  <Slides>14</Slides>
  <Notes>14</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14</vt:i4>
      </vt:variant>
    </vt:vector>
  </HeadingPairs>
  <TitlesOfParts>
    <vt:vector size="19" baseType="lpstr">
      <vt:lpstr>メイリオ</vt:lpstr>
      <vt:lpstr>游ゴシック</vt:lpstr>
      <vt:lpstr>Arial</vt:lpstr>
      <vt:lpstr>Calibri</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小島 佑太</dc:creator>
  <cp:lastModifiedBy>佑太 小島</cp:lastModifiedBy>
  <cp:revision>504</cp:revision>
  <dcterms:created xsi:type="dcterms:W3CDTF">2022-10-05T07:00:55Z</dcterms:created>
  <dcterms:modified xsi:type="dcterms:W3CDTF">2025-10-23T03:35:12Z</dcterms:modified>
</cp:coreProperties>
</file>